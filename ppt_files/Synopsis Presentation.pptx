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341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10" dirty="0"/>
              <a:t>Department</a:t>
            </a:r>
            <a:r>
              <a:rPr spc="-4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CSE(IOT</a:t>
            </a:r>
            <a:r>
              <a:rPr spc="-40" dirty="0"/>
              <a:t> </a:t>
            </a:r>
            <a:r>
              <a:rPr dirty="0"/>
              <a:t>&amp;</a:t>
            </a:r>
            <a:r>
              <a:rPr spc="-40" dirty="0"/>
              <a:t> </a:t>
            </a:r>
            <a:r>
              <a:rPr spc="-25" dirty="0"/>
              <a:t>CS)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10" dirty="0"/>
              <a:t>Department</a:t>
            </a:r>
            <a:r>
              <a:rPr spc="-4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CSE(IOT</a:t>
            </a:r>
            <a:r>
              <a:rPr spc="-40" dirty="0"/>
              <a:t> </a:t>
            </a:r>
            <a:r>
              <a:rPr dirty="0"/>
              <a:t>&amp;</a:t>
            </a:r>
            <a:r>
              <a:rPr spc="-40" dirty="0"/>
              <a:t> </a:t>
            </a:r>
            <a:r>
              <a:rPr spc="-25" dirty="0"/>
              <a:t>CS)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10" dirty="0"/>
              <a:t>Department</a:t>
            </a:r>
            <a:r>
              <a:rPr spc="-4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CSE(IOT</a:t>
            </a:r>
            <a:r>
              <a:rPr spc="-40" dirty="0"/>
              <a:t> </a:t>
            </a:r>
            <a:r>
              <a:rPr dirty="0"/>
              <a:t>&amp;</a:t>
            </a:r>
            <a:r>
              <a:rPr spc="-40" dirty="0"/>
              <a:t> </a:t>
            </a:r>
            <a:r>
              <a:rPr spc="-25" dirty="0"/>
              <a:t>CS)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10" dirty="0"/>
              <a:t>Department</a:t>
            </a:r>
            <a:r>
              <a:rPr spc="-4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CSE(IOT</a:t>
            </a:r>
            <a:r>
              <a:rPr spc="-40" dirty="0"/>
              <a:t> </a:t>
            </a:r>
            <a:r>
              <a:rPr dirty="0"/>
              <a:t>&amp;</a:t>
            </a:r>
            <a:r>
              <a:rPr spc="-40" dirty="0"/>
              <a:t> </a:t>
            </a:r>
            <a:r>
              <a:rPr spc="-25" dirty="0"/>
              <a:t>CS)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10" dirty="0"/>
              <a:t>Department</a:t>
            </a:r>
            <a:r>
              <a:rPr spc="-4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CSE(IOT</a:t>
            </a:r>
            <a:r>
              <a:rPr spc="-40" dirty="0"/>
              <a:t> </a:t>
            </a:r>
            <a:r>
              <a:rPr dirty="0"/>
              <a:t>&amp;</a:t>
            </a:r>
            <a:r>
              <a:rPr spc="-40" dirty="0"/>
              <a:t> </a:t>
            </a:r>
            <a:r>
              <a:rPr spc="-25" dirty="0"/>
              <a:t>CS)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0960" y="6050081"/>
            <a:ext cx="12131040" cy="745490"/>
          </a:xfrm>
          <a:custGeom>
            <a:avLst/>
            <a:gdLst/>
            <a:ahLst/>
            <a:cxnLst/>
            <a:rect l="l" t="t" r="r" b="b"/>
            <a:pathLst>
              <a:path w="12131040" h="745490">
                <a:moveTo>
                  <a:pt x="12131039" y="745235"/>
                </a:moveTo>
                <a:lnTo>
                  <a:pt x="0" y="745235"/>
                </a:lnTo>
                <a:lnTo>
                  <a:pt x="0" y="0"/>
                </a:lnTo>
                <a:lnTo>
                  <a:pt x="12131039" y="0"/>
                </a:lnTo>
                <a:lnTo>
                  <a:pt x="12131039" y="745235"/>
                </a:lnTo>
                <a:close/>
              </a:path>
            </a:pathLst>
          </a:custGeom>
          <a:solidFill>
            <a:srgbClr val="00092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4752"/>
            <a:ext cx="1720439" cy="122507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51908" y="790156"/>
            <a:ext cx="4484370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01407" y="6132572"/>
            <a:ext cx="2726690" cy="25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10" dirty="0"/>
              <a:t>Department</a:t>
            </a:r>
            <a:r>
              <a:rPr spc="-4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CSE(IOT</a:t>
            </a:r>
            <a:r>
              <a:rPr spc="-40" dirty="0"/>
              <a:t> </a:t>
            </a:r>
            <a:r>
              <a:rPr dirty="0"/>
              <a:t>&amp;</a:t>
            </a:r>
            <a:r>
              <a:rPr spc="-40" dirty="0"/>
              <a:t> </a:t>
            </a:r>
            <a:r>
              <a:rPr spc="-25" dirty="0"/>
              <a:t>CS)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ambridge.edu.in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9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759" y="6857639"/>
                </a:moveTo>
                <a:lnTo>
                  <a:pt x="0" y="685763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6857639"/>
                </a:lnTo>
                <a:close/>
              </a:path>
            </a:pathLst>
          </a:custGeom>
          <a:solidFill>
            <a:srgbClr val="000A3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24480" y="848160"/>
            <a:ext cx="5866919" cy="600947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858154" y="2141326"/>
            <a:ext cx="2757170" cy="520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065"/>
              </a:lnSpc>
              <a:spcBef>
                <a:spcPts val="100"/>
              </a:spcBef>
            </a:pPr>
            <a:r>
              <a:rPr sz="1800" b="1" spc="-10" dirty="0">
                <a:solidFill>
                  <a:srgbClr val="C55A11"/>
                </a:solidFill>
                <a:latin typeface="Calibri"/>
                <a:cs typeface="Calibri"/>
              </a:rPr>
              <a:t>Phase-</a:t>
            </a:r>
            <a:r>
              <a:rPr sz="1800" b="1" dirty="0">
                <a:solidFill>
                  <a:srgbClr val="C55A11"/>
                </a:solidFill>
                <a:latin typeface="Calibri"/>
                <a:cs typeface="Calibri"/>
              </a:rPr>
              <a:t>1</a:t>
            </a:r>
            <a:r>
              <a:rPr sz="1800" b="1" spc="-2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55A11"/>
                </a:solidFill>
                <a:latin typeface="Calibri"/>
                <a:cs typeface="Calibri"/>
              </a:rPr>
              <a:t>Project</a:t>
            </a:r>
            <a:r>
              <a:rPr sz="1800" b="1" spc="-2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C55A11"/>
                </a:solidFill>
                <a:latin typeface="Calibri"/>
                <a:cs typeface="Calibri"/>
              </a:rPr>
              <a:t>Presentation</a:t>
            </a:r>
            <a:endParaRPr sz="1800">
              <a:latin typeface="Calibri"/>
              <a:cs typeface="Calibri"/>
            </a:endParaRPr>
          </a:p>
          <a:p>
            <a:pPr marL="3175" algn="ctr">
              <a:lnSpc>
                <a:spcPts val="1825"/>
              </a:lnSpc>
            </a:pPr>
            <a:r>
              <a:rPr sz="1600" b="1" spc="-25" dirty="0">
                <a:solidFill>
                  <a:srgbClr val="C55A11"/>
                </a:solidFill>
                <a:latin typeface="Calibri"/>
                <a:cs typeface="Calibri"/>
              </a:rPr>
              <a:t>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56266" y="2542434"/>
            <a:ext cx="822959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B9BD4"/>
                </a:solidFill>
                <a:latin typeface="Calibri"/>
                <a:cs typeface="Calibri"/>
              </a:rPr>
              <a:t>“</a:t>
            </a:r>
            <a:r>
              <a:rPr lang="en-US" sz="1800" dirty="0">
                <a:solidFill>
                  <a:srgbClr val="5B9BD4"/>
                </a:solidFill>
                <a:latin typeface="Calibri"/>
                <a:cs typeface="Calibri"/>
              </a:rPr>
              <a:t>DermaLens: A fairness-Aware, Explainable smartphone</a:t>
            </a:r>
            <a:br>
              <a:rPr lang="en-US" sz="1800" dirty="0">
                <a:solidFill>
                  <a:srgbClr val="5B9BD4"/>
                </a:solidFill>
                <a:latin typeface="Calibri"/>
                <a:cs typeface="Calibri"/>
              </a:rPr>
            </a:br>
            <a:r>
              <a:rPr lang="en-US" sz="1800" dirty="0">
                <a:solidFill>
                  <a:srgbClr val="5B9BD4"/>
                </a:solidFill>
                <a:latin typeface="Calibri"/>
                <a:cs typeface="Calibri"/>
              </a:rPr>
              <a:t> Application for Early Skin Cancer Risk Assessment</a:t>
            </a:r>
            <a:r>
              <a:rPr sz="1800" spc="-10" dirty="0">
                <a:solidFill>
                  <a:srgbClr val="5B9BD4"/>
                </a:solidFill>
                <a:latin typeface="Calibri"/>
                <a:cs typeface="Calibri"/>
              </a:rPr>
              <a:t>”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21625" y="3048000"/>
            <a:ext cx="233679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25" dirty="0">
                <a:solidFill>
                  <a:srgbClr val="C55A11"/>
                </a:solidFill>
                <a:latin typeface="Calibri"/>
                <a:cs typeface="Calibri"/>
              </a:rPr>
              <a:t>By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5295" y="3312689"/>
            <a:ext cx="117538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spc="-10" dirty="0">
                <a:solidFill>
                  <a:srgbClr val="92D050"/>
                </a:solidFill>
                <a:latin typeface="Calibri"/>
                <a:cs typeface="Calibri"/>
              </a:rPr>
              <a:t>V Dhanush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09800" y="3373649"/>
            <a:ext cx="4056379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29385" algn="l"/>
              </a:tabLst>
            </a:pPr>
            <a:r>
              <a:rPr sz="2000" b="1" spc="-10" dirty="0">
                <a:solidFill>
                  <a:srgbClr val="92D050"/>
                </a:solidFill>
                <a:latin typeface="Calibri"/>
                <a:cs typeface="Calibri"/>
              </a:rPr>
              <a:t>S</a:t>
            </a:r>
            <a:r>
              <a:rPr lang="en-US" sz="2000" b="1" spc="-10" dirty="0">
                <a:solidFill>
                  <a:srgbClr val="92D050"/>
                </a:solidFill>
                <a:latin typeface="Calibri"/>
                <a:cs typeface="Calibri"/>
              </a:rPr>
              <a:t>anjana T G                    Vasudha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3275" y="3762325"/>
            <a:ext cx="55565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92D050"/>
                </a:solidFill>
                <a:latin typeface="Calibri"/>
                <a:cs typeface="Calibri"/>
              </a:rPr>
              <a:t>1CD23I</a:t>
            </a:r>
            <a:r>
              <a:rPr lang="en-US" sz="2000" b="1" dirty="0">
                <a:solidFill>
                  <a:srgbClr val="92D050"/>
                </a:solidFill>
                <a:latin typeface="Calibri"/>
                <a:cs typeface="Calibri"/>
              </a:rPr>
              <a:t>S181</a:t>
            </a:r>
            <a:r>
              <a:rPr lang="en-US" sz="2000" b="1" spc="290" dirty="0">
                <a:solidFill>
                  <a:srgbClr val="92D050"/>
                </a:solidFill>
                <a:latin typeface="Calibri"/>
                <a:cs typeface="Calibri"/>
              </a:rPr>
              <a:t>      </a:t>
            </a:r>
            <a:r>
              <a:rPr sz="2000" b="1" dirty="0">
                <a:solidFill>
                  <a:srgbClr val="92D050"/>
                </a:solidFill>
                <a:latin typeface="Calibri"/>
                <a:cs typeface="Calibri"/>
              </a:rPr>
              <a:t>1CD23</a:t>
            </a:r>
            <a:r>
              <a:rPr lang="en-US" sz="2000" b="1" dirty="0">
                <a:solidFill>
                  <a:srgbClr val="92D050"/>
                </a:solidFill>
                <a:latin typeface="Calibri"/>
                <a:cs typeface="Calibri"/>
              </a:rPr>
              <a:t>IS145</a:t>
            </a:r>
            <a:r>
              <a:rPr sz="2000" b="1" spc="300" dirty="0">
                <a:solidFill>
                  <a:srgbClr val="92D050"/>
                </a:solidFill>
                <a:latin typeface="Calibri"/>
                <a:cs typeface="Calibri"/>
              </a:rPr>
              <a:t> </a:t>
            </a:r>
            <a:r>
              <a:rPr lang="en-US" sz="2000" b="1" spc="300" dirty="0">
                <a:solidFill>
                  <a:srgbClr val="92D050"/>
                </a:solidFill>
                <a:latin typeface="Calibri"/>
                <a:cs typeface="Calibri"/>
              </a:rPr>
              <a:t>        </a:t>
            </a:r>
            <a:r>
              <a:rPr sz="2000" b="1" spc="-10" dirty="0">
                <a:solidFill>
                  <a:srgbClr val="92D050"/>
                </a:solidFill>
                <a:latin typeface="Calibri"/>
                <a:cs typeface="Calibri"/>
              </a:rPr>
              <a:t>1CD23</a:t>
            </a:r>
            <a:r>
              <a:rPr lang="en-US" sz="2000" b="1" spc="-10" dirty="0">
                <a:solidFill>
                  <a:srgbClr val="92D050"/>
                </a:solidFill>
                <a:latin typeface="Calibri"/>
                <a:cs typeface="Calibri"/>
              </a:rPr>
              <a:t>IS186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6665" y="4072132"/>
            <a:ext cx="7057390" cy="2717411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R="826769" algn="ctr">
              <a:lnSpc>
                <a:spcPct val="100000"/>
              </a:lnSpc>
              <a:spcBef>
                <a:spcPts val="700"/>
              </a:spcBef>
            </a:pPr>
            <a:r>
              <a:rPr sz="1600" b="1" dirty="0">
                <a:solidFill>
                  <a:srgbClr val="C55A11"/>
                </a:solidFill>
                <a:latin typeface="Calibri"/>
                <a:cs typeface="Calibri"/>
              </a:rPr>
              <a:t>Under</a:t>
            </a:r>
            <a:r>
              <a:rPr sz="1600" b="1" spc="-3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C55A11"/>
                </a:solidFill>
                <a:latin typeface="Calibri"/>
                <a:cs typeface="Calibri"/>
              </a:rPr>
              <a:t>the</a:t>
            </a:r>
            <a:r>
              <a:rPr sz="1600" b="1" spc="-3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C55A11"/>
                </a:solidFill>
                <a:latin typeface="Calibri"/>
                <a:cs typeface="Calibri"/>
              </a:rPr>
              <a:t>Guidance</a:t>
            </a:r>
            <a:r>
              <a:rPr sz="1600" b="1" spc="-3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1600" b="1" spc="-25" dirty="0">
                <a:solidFill>
                  <a:srgbClr val="C55A11"/>
                </a:solidFill>
                <a:latin typeface="Calibri"/>
                <a:cs typeface="Calibri"/>
              </a:rPr>
              <a:t>of</a:t>
            </a:r>
            <a:endParaRPr sz="1600" dirty="0">
              <a:latin typeface="Calibri"/>
              <a:cs typeface="Calibri"/>
            </a:endParaRPr>
          </a:p>
          <a:p>
            <a:pPr marR="824865" algn="ctr">
              <a:lnSpc>
                <a:spcPts val="2305"/>
              </a:lnSpc>
              <a:spcBef>
                <a:spcPts val="750"/>
              </a:spcBef>
            </a:pPr>
            <a:r>
              <a:rPr sz="2000" b="1" i="1" spc="-10" dirty="0" err="1">
                <a:solidFill>
                  <a:srgbClr val="E1EED8"/>
                </a:solidFill>
                <a:latin typeface="Calibri"/>
                <a:cs typeface="Calibri"/>
              </a:rPr>
              <a:t>Dr.</a:t>
            </a:r>
            <a:r>
              <a:rPr lang="en-US" sz="2000" b="1" i="1" spc="-10" dirty="0" err="1">
                <a:solidFill>
                  <a:srgbClr val="E1EED8"/>
                </a:solidFill>
                <a:latin typeface="Calibri"/>
                <a:cs typeface="Calibri"/>
              </a:rPr>
              <a:t>Priyanka</a:t>
            </a:r>
            <a:r>
              <a:rPr lang="en-US" sz="2000" b="1" i="1" spc="-10" dirty="0">
                <a:solidFill>
                  <a:srgbClr val="E1EED8"/>
                </a:solidFill>
                <a:latin typeface="Calibri"/>
                <a:cs typeface="Calibri"/>
              </a:rPr>
              <a:t> Desai</a:t>
            </a:r>
            <a:endParaRPr sz="2000" dirty="0">
              <a:latin typeface="Calibri"/>
              <a:cs typeface="Calibri"/>
            </a:endParaRPr>
          </a:p>
          <a:p>
            <a:pPr marR="826135" algn="ctr">
              <a:lnSpc>
                <a:spcPts val="1825"/>
              </a:lnSpc>
            </a:pPr>
            <a:r>
              <a:rPr sz="1600" b="1" i="1" spc="-10" dirty="0">
                <a:solidFill>
                  <a:srgbClr val="00B0F0"/>
                </a:solidFill>
                <a:latin typeface="Calibri"/>
                <a:cs typeface="Calibri"/>
              </a:rPr>
              <a:t>Professor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55"/>
              </a:spcBef>
            </a:pPr>
            <a:endParaRPr sz="1600" dirty="0">
              <a:latin typeface="Calibri"/>
              <a:cs typeface="Calibri"/>
            </a:endParaRPr>
          </a:p>
          <a:p>
            <a:pPr marL="12700">
              <a:lnSpc>
                <a:spcPts val="2455"/>
              </a:lnSpc>
            </a:pPr>
            <a:r>
              <a:rPr sz="2150" i="1" dirty="0">
                <a:solidFill>
                  <a:srgbClr val="FFFFFF"/>
                </a:solidFill>
                <a:latin typeface="Calibri"/>
                <a:cs typeface="Calibri"/>
              </a:rPr>
              <a:t>Department</a:t>
            </a:r>
            <a:r>
              <a:rPr sz="2150" i="1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i="1" spc="-25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endParaRPr lang="en-US" sz="2150" i="1" dirty="0">
              <a:latin typeface="Calibri"/>
              <a:cs typeface="Calibri"/>
            </a:endParaRPr>
          </a:p>
          <a:p>
            <a:pPr marL="12700">
              <a:lnSpc>
                <a:spcPts val="2455"/>
              </a:lnSpc>
            </a:pPr>
            <a:r>
              <a:rPr lang="en-US" sz="2150" i="1" spc="-10" dirty="0">
                <a:solidFill>
                  <a:srgbClr val="FFFFFF"/>
                </a:solidFill>
                <a:latin typeface="Calibri"/>
                <a:cs typeface="Calibri"/>
                <a:hlinkClick r:id="rId3"/>
              </a:rPr>
              <a:t>INFORMATION SCIENCE AND ENGINEERING </a:t>
            </a:r>
            <a:br>
              <a:rPr lang="en-US" sz="2150" i="1" spc="-10" dirty="0">
                <a:solidFill>
                  <a:srgbClr val="FFFFFF"/>
                </a:solidFill>
                <a:latin typeface="Calibri"/>
                <a:cs typeface="Calibri"/>
                <a:hlinkClick r:id="rId3"/>
              </a:rPr>
            </a:br>
            <a:br>
              <a:rPr lang="en-US" sz="2150" i="1" spc="-10" dirty="0">
                <a:solidFill>
                  <a:srgbClr val="FFFFFF"/>
                </a:solidFill>
                <a:latin typeface="Calibri"/>
                <a:cs typeface="Calibri"/>
                <a:hlinkClick r:id="rId3"/>
              </a:rPr>
            </a:b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  <a:hlinkClick r:id="rId3"/>
              </a:rPr>
              <a:t>www.cambridge.edu.in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45919" y="429480"/>
            <a:ext cx="1720439" cy="12250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960" y="6050081"/>
            <a:ext cx="12131040" cy="745490"/>
          </a:xfrm>
          <a:custGeom>
            <a:avLst/>
            <a:gdLst/>
            <a:ahLst/>
            <a:cxnLst/>
            <a:rect l="l" t="t" r="r" b="b"/>
            <a:pathLst>
              <a:path w="12131040" h="745490">
                <a:moveTo>
                  <a:pt x="12131039" y="745235"/>
                </a:moveTo>
                <a:lnTo>
                  <a:pt x="0" y="745235"/>
                </a:lnTo>
                <a:lnTo>
                  <a:pt x="0" y="0"/>
                </a:lnTo>
                <a:lnTo>
                  <a:pt x="12131039" y="0"/>
                </a:lnTo>
                <a:lnTo>
                  <a:pt x="12131039" y="745235"/>
                </a:lnTo>
                <a:close/>
              </a:path>
            </a:pathLst>
          </a:custGeom>
          <a:solidFill>
            <a:srgbClr val="00092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4752"/>
            <a:ext cx="1720439" cy="122507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8143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Content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10" dirty="0"/>
              <a:t>Department</a:t>
            </a:r>
            <a:r>
              <a:rPr spc="-4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CSE(IOT</a:t>
            </a:r>
            <a:r>
              <a:rPr spc="-40" dirty="0"/>
              <a:t> </a:t>
            </a:r>
            <a:r>
              <a:rPr dirty="0"/>
              <a:t>&amp;</a:t>
            </a:r>
            <a:r>
              <a:rPr spc="-40" dirty="0"/>
              <a:t> </a:t>
            </a:r>
            <a:r>
              <a:rPr spc="-25" dirty="0"/>
              <a:t>CS)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720439" y="1752600"/>
            <a:ext cx="2860040" cy="309245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87325" indent="-174625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187325" algn="l"/>
              </a:tabLst>
            </a:pPr>
            <a:r>
              <a:rPr sz="2800" dirty="0">
                <a:latin typeface="Times New Roman"/>
                <a:cs typeface="Times New Roman"/>
              </a:rPr>
              <a:t>Title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Project</a:t>
            </a:r>
            <a:endParaRPr sz="2800" dirty="0">
              <a:latin typeface="Times New Roman"/>
              <a:cs typeface="Times New Roman"/>
            </a:endParaRPr>
          </a:p>
          <a:p>
            <a:pPr marL="187325" indent="-17462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187325" algn="l"/>
              </a:tabLst>
            </a:pPr>
            <a:r>
              <a:rPr sz="2800" dirty="0">
                <a:latin typeface="Times New Roman"/>
                <a:cs typeface="Times New Roman"/>
              </a:rPr>
              <a:t>Proposed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Method</a:t>
            </a:r>
            <a:endParaRPr sz="2800" dirty="0">
              <a:latin typeface="Times New Roman"/>
              <a:cs typeface="Times New Roman"/>
            </a:endParaRPr>
          </a:p>
          <a:p>
            <a:pPr marL="187325" indent="-17462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187325" algn="l"/>
              </a:tabLst>
            </a:pPr>
            <a:r>
              <a:rPr sz="2800" spc="-10" dirty="0">
                <a:latin typeface="Times New Roman"/>
                <a:cs typeface="Times New Roman"/>
              </a:rPr>
              <a:t>Objectives</a:t>
            </a:r>
            <a:endParaRPr sz="2800" dirty="0">
              <a:latin typeface="Times New Roman"/>
              <a:cs typeface="Times New Roman"/>
            </a:endParaRPr>
          </a:p>
          <a:p>
            <a:pPr marL="187325" indent="-17462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187325" algn="l"/>
              </a:tabLst>
            </a:pPr>
            <a:r>
              <a:rPr sz="2800" spc="-10" dirty="0">
                <a:latin typeface="Times New Roman"/>
                <a:cs typeface="Times New Roman"/>
              </a:rPr>
              <a:t>Motivation</a:t>
            </a:r>
            <a:endParaRPr sz="2800" dirty="0">
              <a:latin typeface="Times New Roman"/>
              <a:cs typeface="Times New Roman"/>
            </a:endParaRPr>
          </a:p>
          <a:p>
            <a:pPr marL="187325" indent="-17462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187325" algn="l"/>
              </a:tabLst>
            </a:pPr>
            <a:r>
              <a:rPr sz="2800" spc="-10" dirty="0">
                <a:latin typeface="Times New Roman"/>
                <a:cs typeface="Times New Roman"/>
              </a:rPr>
              <a:t>Challenges</a:t>
            </a:r>
            <a:endParaRPr sz="2800" dirty="0">
              <a:latin typeface="Times New Roman"/>
              <a:cs typeface="Times New Roman"/>
            </a:endParaRPr>
          </a:p>
          <a:p>
            <a:pPr marL="187325" indent="-17462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187325" algn="l"/>
              </a:tabLst>
            </a:pPr>
            <a:r>
              <a:rPr sz="2800" spc="-10" dirty="0">
                <a:latin typeface="Times New Roman"/>
                <a:cs typeface="Times New Roman"/>
              </a:rPr>
              <a:t>Applications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51908" y="790156"/>
            <a:ext cx="448437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1861820" algn="l"/>
              </a:tabLst>
            </a:pPr>
            <a:r>
              <a:rPr sz="3200" dirty="0"/>
              <a:t>Title</a:t>
            </a:r>
            <a:r>
              <a:rPr sz="3200" spc="-135" dirty="0"/>
              <a:t> </a:t>
            </a:r>
            <a:r>
              <a:rPr lang="en-IN" sz="3200" spc="-25" dirty="0"/>
              <a:t>Of</a:t>
            </a:r>
            <a:r>
              <a:rPr lang="en-US" sz="3200" spc="-25" dirty="0"/>
              <a:t> </a:t>
            </a:r>
            <a:r>
              <a:rPr sz="3200" dirty="0"/>
              <a:t>the</a:t>
            </a:r>
            <a:r>
              <a:rPr sz="3200" spc="-15" dirty="0"/>
              <a:t> </a:t>
            </a:r>
            <a:r>
              <a:rPr sz="3200" spc="-10" dirty="0"/>
              <a:t>Project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10" dirty="0"/>
              <a:t>Department</a:t>
            </a:r>
            <a:r>
              <a:rPr spc="-4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CSE(IOT</a:t>
            </a:r>
            <a:r>
              <a:rPr spc="-40" dirty="0"/>
              <a:t> </a:t>
            </a:r>
            <a:r>
              <a:rPr dirty="0"/>
              <a:t>&amp;</a:t>
            </a:r>
            <a:r>
              <a:rPr spc="-40" dirty="0"/>
              <a:t> </a:t>
            </a:r>
            <a:r>
              <a:rPr spc="-25" dirty="0"/>
              <a:t>CS)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933683A-03F8-3032-5255-B499C4138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515" y="2404648"/>
            <a:ext cx="11537155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</a:rPr>
              <a:t>DermaLens</a:t>
            </a:r>
            <a:endParaRPr kumimoji="0" lang="en-US" altLang="en-US" sz="4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</a:rPr>
              <a:t>A Fairness-Aware, Explainable Smartphone Application for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</a:rPr>
              <a:t>Early Skin Cancer Risk Assessment </a:t>
            </a:r>
            <a:endParaRPr kumimoji="0" lang="en-US" altLang="en-US" sz="4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53815" y="76200"/>
            <a:ext cx="448437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081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250" dirty="0"/>
              <a:t> </a:t>
            </a:r>
            <a:r>
              <a:rPr spc="-10" dirty="0"/>
              <a:t>Method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10" dirty="0"/>
              <a:t>Department</a:t>
            </a:r>
            <a:r>
              <a:rPr spc="-4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CSE(IOT</a:t>
            </a:r>
            <a:r>
              <a:rPr spc="-40" dirty="0"/>
              <a:t> </a:t>
            </a:r>
            <a:r>
              <a:rPr dirty="0"/>
              <a:t>&amp;</a:t>
            </a:r>
            <a:r>
              <a:rPr spc="-40" dirty="0"/>
              <a:t> </a:t>
            </a:r>
            <a:r>
              <a:rPr spc="-25" dirty="0"/>
              <a:t>CS)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497F59-B9DE-B5E0-E3E1-4F9E7CF90FB4}"/>
              </a:ext>
            </a:extLst>
          </p:cNvPr>
          <p:cNvSpPr txBox="1"/>
          <p:nvPr/>
        </p:nvSpPr>
        <p:spPr>
          <a:xfrm>
            <a:off x="152400" y="1600200"/>
            <a:ext cx="4191000" cy="4219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400"/>
              </a:spcBef>
              <a:spcAft>
                <a:spcPts val="500"/>
              </a:spcAft>
              <a:buNone/>
            </a:pPr>
            <a:r>
              <a:rPr lang="en-IN" sz="1600" b="1" dirty="0">
                <a:solidFill>
                  <a:srgbClr val="2E74B5"/>
                </a:solidFill>
                <a:effectLst/>
                <a:latin typeface="Arial" panose="020B0604020202020204" pitchFamily="34" charset="0"/>
              </a:rPr>
              <a:t>Architecture — </a:t>
            </a:r>
            <a:r>
              <a:rPr lang="en-IN" sz="1600" b="1" dirty="0" err="1">
                <a:solidFill>
                  <a:srgbClr val="2E74B5"/>
                </a:solidFill>
                <a:effectLst/>
                <a:latin typeface="Arial" panose="020B0604020202020204" pitchFamily="34" charset="0"/>
              </a:rPr>
              <a:t>FairDermNet</a:t>
            </a:r>
            <a:endParaRPr lang="en-IN" sz="1600" b="1" dirty="0">
              <a:solidFill>
                <a:srgbClr val="2E74B5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Backbone: MobileNetV3-Large (pretrained on ImageNet) — lightweight yet accurate, well-suited for mobile deployment.</a:t>
            </a:r>
          </a:p>
          <a:p>
            <a:pPr marL="342900" marR="0" lvl="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4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FairnessAttentionModule</a:t>
            </a:r>
            <a:r>
              <a:rPr lang="en-IN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(FAM): A skin-tone-conditioned attention module inserted after the backbone. Given a predicted Fitzpatrick group, FAM re-weights intermediate feature maps to reduce representation disparity between light and dark skin tones.</a:t>
            </a:r>
          </a:p>
          <a:p>
            <a:pPr marL="342900" marR="0" lvl="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Generalised Mean Pooling (</a:t>
            </a:r>
            <a:r>
              <a:rPr lang="en-IN" sz="14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GeM</a:t>
            </a:r>
            <a:r>
              <a:rPr lang="en-IN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): Replaces the standard global average pooling with a learnable </a:t>
            </a:r>
            <a:r>
              <a:rPr lang="en-IN" sz="14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GeM</a:t>
            </a:r>
            <a:r>
              <a:rPr lang="en-IN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pooling layer, producing richer feature descriptors for fine-grained lesion discrimination.</a:t>
            </a:r>
          </a:p>
          <a:p>
            <a:pPr>
              <a:buNone/>
            </a:pPr>
            <a:r>
              <a:rPr lang="en-IN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9-Class Head: A fully-connected classification head with </a:t>
            </a:r>
            <a:r>
              <a:rPr lang="en-IN" sz="14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softmax</a:t>
            </a:r>
            <a:r>
              <a:rPr lang="en-IN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output over MEL / BCC / SCC / AK / BOD / NV / BKL / DF / VASC.</a:t>
            </a:r>
            <a:endParaRPr lang="en-IN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C70450-D0FD-34CA-F2BA-D9269F5383E7}"/>
              </a:ext>
            </a:extLst>
          </p:cNvPr>
          <p:cNvSpPr txBox="1"/>
          <p:nvPr/>
        </p:nvSpPr>
        <p:spPr>
          <a:xfrm>
            <a:off x="4343400" y="1586345"/>
            <a:ext cx="4484370" cy="4054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400"/>
              </a:spcBef>
              <a:spcAft>
                <a:spcPts val="500"/>
              </a:spcAft>
              <a:buNone/>
            </a:pPr>
            <a:r>
              <a:rPr lang="en-IN" sz="1600" b="1" dirty="0">
                <a:solidFill>
                  <a:srgbClr val="2E74B5"/>
                </a:solidFill>
                <a:effectLst/>
                <a:latin typeface="Arial" panose="020B0604020202020204" pitchFamily="34" charset="0"/>
              </a:rPr>
              <a:t>Training Configuration</a:t>
            </a:r>
          </a:p>
          <a:p>
            <a:pPr marL="342900" marR="0" lvl="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Datasets: HAM10000 (~10k dermoscopic) + ISIC 2019 (~25k dermoscopic) + PAD-UFES-20 (~2.3k smartphone), total ~37k training images.</a:t>
            </a:r>
          </a:p>
          <a:p>
            <a:pPr marL="342900" marR="0" lvl="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Loss Function: Composite loss = α·</a:t>
            </a:r>
            <a:r>
              <a:rPr lang="en-IN" sz="14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CrossEntropy</a:t>
            </a:r>
            <a:r>
              <a:rPr lang="en-IN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+ β·</a:t>
            </a:r>
            <a:r>
              <a:rPr lang="en-IN" sz="14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FairnessLoss</a:t>
            </a:r>
            <a:r>
              <a:rPr lang="en-IN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+ </a:t>
            </a:r>
            <a:r>
              <a:rPr lang="en-IN" sz="14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γ·DiversityLoss</a:t>
            </a:r>
            <a:r>
              <a:rPr lang="en-IN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(α=1.0, β=0.15, γ=0.25).</a:t>
            </a:r>
          </a:p>
          <a:p>
            <a:pPr marL="342900" marR="0" lvl="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Hardware &amp; Efficiency: RTX 3050 Laptop (6 GB VRAM), batch size 16, gradient accumulation ×4 (effective batch=64), AMP fp16 mixed precision, 30 epochs.</a:t>
            </a:r>
          </a:p>
          <a:p>
            <a:pPr marL="342900" marR="0" lvl="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Fairness Evaluation: DDI Stanford dataset (held-out, 656 images) used exclusively for post-training fairness audit across skin-tone codes 12 / 34 / 56.</a:t>
            </a:r>
          </a:p>
          <a:p>
            <a:pPr marL="342900" marR="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Export Pipeline: Best checkpoint → </a:t>
            </a:r>
            <a:r>
              <a:rPr lang="en-IN" sz="14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TFLite</a:t>
            </a:r>
            <a:r>
              <a:rPr lang="en-IN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INT8 quantisation → Flutter app integration for on-device inference.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83B76B-2190-4B25-4229-40E3451C7C6D}"/>
              </a:ext>
            </a:extLst>
          </p:cNvPr>
          <p:cNvSpPr txBox="1"/>
          <p:nvPr/>
        </p:nvSpPr>
        <p:spPr>
          <a:xfrm>
            <a:off x="9372600" y="1719557"/>
            <a:ext cx="2515466" cy="3418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400"/>
              </a:spcBef>
              <a:spcAft>
                <a:spcPts val="500"/>
              </a:spcAft>
              <a:buNone/>
            </a:pPr>
            <a:r>
              <a:rPr lang="en-IN" sz="1600" b="1" dirty="0">
                <a:solidFill>
                  <a:srgbClr val="2E74B5"/>
                </a:solidFill>
                <a:effectLst/>
                <a:latin typeface="Arial" panose="020B0604020202020204" pitchFamily="34" charset="0"/>
              </a:rPr>
              <a:t>Explainability Pipeline</a:t>
            </a:r>
          </a:p>
          <a:p>
            <a:pPr marL="0" marR="0">
              <a:spcAft>
                <a:spcPts val="400"/>
              </a:spcAft>
              <a:buNone/>
            </a:pPr>
            <a:br>
              <a:rPr lang="en-IN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IN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After classification, Grad-CAM heatmaps are overlaid on the input image to indicate the lesion region contributing most to the decision. SHAP values are computed for feature-level attribution. Both outputs are surfaced in the Flutter app alongside the class probability distribution, giving the user and clinician a transparent view of model reasoning.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53815" y="304800"/>
            <a:ext cx="448437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8679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10" dirty="0"/>
              <a:t>Department</a:t>
            </a:r>
            <a:r>
              <a:rPr spc="-4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CSE(IOT</a:t>
            </a:r>
            <a:r>
              <a:rPr spc="-40" dirty="0"/>
              <a:t> </a:t>
            </a:r>
            <a:r>
              <a:rPr dirty="0"/>
              <a:t>&amp;</a:t>
            </a:r>
            <a:r>
              <a:rPr spc="-40" dirty="0"/>
              <a:t> </a:t>
            </a:r>
            <a:r>
              <a:rPr spc="-25" dirty="0"/>
              <a:t>CS)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EE7B2A-FACE-AF61-543A-81721162AE4A}"/>
              </a:ext>
            </a:extLst>
          </p:cNvPr>
          <p:cNvSpPr txBox="1"/>
          <p:nvPr/>
        </p:nvSpPr>
        <p:spPr>
          <a:xfrm>
            <a:off x="-176" y="1524000"/>
            <a:ext cx="6781975" cy="4249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400"/>
              </a:spcBef>
              <a:spcAft>
                <a:spcPts val="500"/>
              </a:spcAft>
              <a:buNone/>
            </a:pPr>
            <a:r>
              <a:rPr lang="en-IN" sz="1600" b="1" dirty="0">
                <a:solidFill>
                  <a:srgbClr val="2E74B5"/>
                </a:solidFill>
                <a:effectLst/>
                <a:latin typeface="Arial" panose="020B0604020202020204" pitchFamily="34" charset="0"/>
              </a:rPr>
              <a:t>Primary Objectives</a:t>
            </a:r>
          </a:p>
          <a:p>
            <a:pPr marL="342900" marR="0" lvl="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Multi-Class Classification: Build a model that classifies dermoscopic and smartphone images into 9 lesion categories — MEL, BCC, SCC, AK, BOD, NV, BKL, DF, VASC — using combined HAM10000, ISIC 2019, and PAD-UFES-20 datasets (~37k images).</a:t>
            </a:r>
          </a:p>
          <a:p>
            <a:pPr marL="342900" marR="0" lvl="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Fairness-Aware Training: Integrate skin-tone fairness loss (α=1.0, β=0.15, γ=0.25) via a </a:t>
            </a:r>
            <a:r>
              <a:rPr lang="en-IN" sz="16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FairnessAttentionModule</a:t>
            </a:r>
            <a:r>
              <a:rPr lang="en-IN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so the model performs equitably across Fitzpatrick skin-tone groups I–VI, evaluated on the held-out DDI Stanford dataset (656 images, tone codes 12/34/56).</a:t>
            </a:r>
          </a:p>
          <a:p>
            <a:pPr marL="342900" marR="0" lvl="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Explainability: Generate per-prediction visual explanations (Grad-CAM / SHAP overlays) to highlight the lesion regions driving the model's decision, improving clinical trust.</a:t>
            </a:r>
          </a:p>
          <a:p>
            <a:pPr marL="342900" marR="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Mobile Deployment: Export the trained model to </a:t>
            </a:r>
            <a:r>
              <a:rPr lang="en-IN" sz="16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TFLite</a:t>
            </a:r>
            <a:r>
              <a:rPr lang="en-IN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INT8 format for integration into a cross-platform Flutter application, enabling on-device inference without cloud dependency.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8F53B2-E0B2-2FEC-BFE0-EB85C7CF432E}"/>
              </a:ext>
            </a:extLst>
          </p:cNvPr>
          <p:cNvSpPr txBox="1"/>
          <p:nvPr/>
        </p:nvSpPr>
        <p:spPr>
          <a:xfrm>
            <a:off x="6781799" y="1593767"/>
            <a:ext cx="5179868" cy="375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400"/>
              </a:spcBef>
              <a:spcAft>
                <a:spcPts val="500"/>
              </a:spcAft>
              <a:buNone/>
            </a:pPr>
            <a:r>
              <a:rPr lang="en-IN" sz="1600" b="1" dirty="0">
                <a:solidFill>
                  <a:srgbClr val="2E74B5"/>
                </a:solidFill>
                <a:effectLst/>
                <a:latin typeface="Arial" panose="020B0604020202020204" pitchFamily="34" charset="0"/>
              </a:rPr>
              <a:t>Secondary Objectives</a:t>
            </a:r>
          </a:p>
          <a:p>
            <a:pPr marL="342900" marR="0" lvl="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Achieve balanced per-class accuracy across all 9 categories, addressing severe class imbalance through weighted sampling and augmentation.</a:t>
            </a:r>
          </a:p>
          <a:p>
            <a:pPr marL="342900" marR="0" lvl="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Maintain efficient inference (≤500 </a:t>
            </a:r>
            <a:r>
              <a:rPr lang="en-IN" sz="16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ms</a:t>
            </a:r>
            <a:r>
              <a:rPr lang="en-IN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per image) on a mid-range Android device using the quantised </a:t>
            </a:r>
            <a:r>
              <a:rPr lang="en-IN" sz="16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TFLite</a:t>
            </a:r>
            <a:r>
              <a:rPr lang="en-IN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model.</a:t>
            </a:r>
          </a:p>
          <a:p>
            <a:pPr marL="342900" marR="0" lvl="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Conduct threshold analysis (Cell 9c) to identify optimal per-class decision thresholds that maximise sensitivity for high-risk malignant classes (MEL, BCC, SCC).</a:t>
            </a:r>
          </a:p>
          <a:p>
            <a:pPr marL="342900" marR="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Evaluate fairness metrics (equalized odds, demographic parity) across skin-tone groups and compare before/after fairness-loss regularisation.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51908" y="457200"/>
            <a:ext cx="448437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456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Motivation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10" dirty="0"/>
              <a:t>Department</a:t>
            </a:r>
            <a:r>
              <a:rPr spc="-4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CSE(IOT</a:t>
            </a:r>
            <a:r>
              <a:rPr spc="-40" dirty="0"/>
              <a:t> </a:t>
            </a:r>
            <a:r>
              <a:rPr dirty="0"/>
              <a:t>&amp;</a:t>
            </a:r>
            <a:r>
              <a:rPr spc="-40" dirty="0"/>
              <a:t> </a:t>
            </a:r>
            <a:r>
              <a:rPr spc="-25" dirty="0"/>
              <a:t>CS)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869EA3-60E8-891B-B8F9-9D48DC132FF0}"/>
              </a:ext>
            </a:extLst>
          </p:cNvPr>
          <p:cNvSpPr txBox="1"/>
          <p:nvPr/>
        </p:nvSpPr>
        <p:spPr>
          <a:xfrm>
            <a:off x="379093" y="1295400"/>
            <a:ext cx="11430000" cy="4619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Aft>
                <a:spcPts val="500"/>
              </a:spcAft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Skin cancer is the most prevalent cancer globally, yet early-stage detection remains alarmingly low in resource-constrained and diverse-population settings. Existing AI-based dermatology tools present two critical gaps:</a:t>
            </a:r>
          </a:p>
          <a:p>
            <a:pPr marL="342900" marR="0" lvl="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Bias Against Darker Skin Tones</a:t>
            </a: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: Most benchmark datasets (HAM10000, ISIC) are dominated by Fitzpatrick I–III images (lighter skin), causing models to underperform on Fitzpatrick IV–VI patients — a population that is simultaneously under-screened and underrepresented.</a:t>
            </a:r>
          </a:p>
          <a:p>
            <a:pPr marL="342900" marR="0" lvl="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Black-Box Decisions</a:t>
            </a: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: Clinicians and patients distrust deep learning models that produce a diagnosis label without explanation, making clinical adoption difficult.</a:t>
            </a:r>
          </a:p>
          <a:p>
            <a:pPr marL="342900" marR="0" lvl="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Limited Access</a:t>
            </a: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: High-cost </a:t>
            </a:r>
            <a:r>
              <a:rPr lang="en-IN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dermatoscopy</a:t>
            </a: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hardware is unavailable to many patients; a smartphone-based solution is needed.</a:t>
            </a:r>
          </a:p>
          <a:p>
            <a:pPr marL="342900" marR="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Multi-Class Insufficiency</a:t>
            </a: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: Most deployed tools cover only 2–3 lesion types, whereas real-world diagnosis requires distinguishing at least 9 clinically relevant classes.</a:t>
            </a:r>
          </a:p>
          <a:p>
            <a:pPr marL="342900" marR="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buNone/>
            </a:pPr>
            <a:r>
              <a:rPr lang="en-IN" sz="1800" i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DermaLens is motivated by the need for an accurate, fair, explainable, and accessible skin lesion classifier — one that performs equitably across all skin tones and can be deployed on a mobile device without a specialist hardware requirement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62400" y="94196"/>
            <a:ext cx="448437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398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Challenges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10" dirty="0"/>
              <a:t>Department</a:t>
            </a:r>
            <a:r>
              <a:rPr spc="-4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CSE(IOT</a:t>
            </a:r>
            <a:r>
              <a:rPr spc="-40" dirty="0"/>
              <a:t> </a:t>
            </a:r>
            <a:r>
              <a:rPr dirty="0"/>
              <a:t>&amp;</a:t>
            </a:r>
            <a:r>
              <a:rPr spc="-40" dirty="0"/>
              <a:t> </a:t>
            </a:r>
            <a:r>
              <a:rPr spc="-25" dirty="0"/>
              <a:t>CS)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B5DE7B-24D4-77BE-43AF-B26B52A4BE68}"/>
              </a:ext>
            </a:extLst>
          </p:cNvPr>
          <p:cNvSpPr txBox="1"/>
          <p:nvPr/>
        </p:nvSpPr>
        <p:spPr>
          <a:xfrm>
            <a:off x="371043" y="1371600"/>
            <a:ext cx="3887066" cy="4649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400"/>
              </a:spcBef>
              <a:spcAft>
                <a:spcPts val="500"/>
              </a:spcAft>
              <a:buNone/>
            </a:pPr>
            <a:r>
              <a:rPr lang="en-IN" sz="1600" b="1" dirty="0">
                <a:solidFill>
                  <a:srgbClr val="2E74B5"/>
                </a:solidFill>
                <a:effectLst/>
                <a:latin typeface="Arial" panose="020B0604020202020204" pitchFamily="34" charset="0"/>
              </a:rPr>
              <a:t>Data Challenges</a:t>
            </a:r>
          </a:p>
          <a:p>
            <a:pPr marL="342900" marR="0" lvl="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Severe Class Imbalance: NV (nevi) accounts for &gt;60% of HAM10000, while VASC and DF each represent &lt;2%, making naive training heavily biased toward benign lesions.</a:t>
            </a:r>
          </a:p>
          <a:p>
            <a:pPr marL="342900" marR="0" lvl="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Skin-Tone Underrepresentation: HAM10000 and ISIC 2019 lack ground-truth Fitzpatrick labels; skin-tone estimation must be inferred, introducing label noise.</a:t>
            </a:r>
          </a:p>
          <a:p>
            <a:pPr marL="342900" marR="0" lvl="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Domain Shift: PAD-UFES-20 uses smartphone cameras rather than </a:t>
            </a:r>
            <a:r>
              <a:rPr lang="en-IN" sz="14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dermatoscopes</a:t>
            </a:r>
            <a:r>
              <a:rPr lang="en-IN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creating a significant image quality and capture-condition gap relative to HAM10000/ISIC.</a:t>
            </a:r>
          </a:p>
          <a:p>
            <a:pPr>
              <a:buNone/>
            </a:pPr>
            <a:r>
              <a:rPr lang="en-IN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Label Taxonomy Alignment: Merging three datasets with differing label schemas required constructing a unified 9-class taxonomy and handling inter-dataset label ambiguities.</a:t>
            </a:r>
            <a:endParaRPr lang="en-IN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FD103C-8A5D-A8AA-BE2F-75D535929D80}"/>
              </a:ext>
            </a:extLst>
          </p:cNvPr>
          <p:cNvSpPr txBox="1"/>
          <p:nvPr/>
        </p:nvSpPr>
        <p:spPr>
          <a:xfrm>
            <a:off x="4258109" y="1420091"/>
            <a:ext cx="4438648" cy="4003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400"/>
              </a:spcBef>
              <a:spcAft>
                <a:spcPts val="500"/>
              </a:spcAft>
              <a:buNone/>
            </a:pPr>
            <a:r>
              <a:rPr lang="en-IN" sz="1600" b="1" dirty="0">
                <a:solidFill>
                  <a:srgbClr val="2E74B5"/>
                </a:solidFill>
                <a:effectLst/>
                <a:latin typeface="Arial" panose="020B0604020202020204" pitchFamily="34" charset="0"/>
              </a:rPr>
              <a:t>Modelling Challenges</a:t>
            </a:r>
          </a:p>
          <a:p>
            <a:pPr marL="342900" marR="0" lvl="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Accuracy-Fairness Trade-off: Minimising overall cross-entropy can actually worsen per-group fairness. Balancing α, β, γ in the composite loss without degrading overall AUC is non-trivial.</a:t>
            </a:r>
          </a:p>
          <a:p>
            <a:pPr marL="342900" marR="0" lvl="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VRAM Constraints: The 6 GB RTX 3050 limits batch size; gradient accumulation partially compensates but introduces training instability if not carefully tuned.</a:t>
            </a:r>
          </a:p>
          <a:p>
            <a:pPr marL="342900" marR="0" lvl="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CUDA Compatibility: Environment-specific CUDA/PyTorch mismatches required targeted hotfixes to enable GPU-accelerated training in the project's </a:t>
            </a:r>
            <a:r>
              <a:rPr lang="en-IN" sz="14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conda</a:t>
            </a:r>
            <a:r>
              <a:rPr lang="en-IN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environment.</a:t>
            </a:r>
          </a:p>
          <a:p>
            <a:pPr>
              <a:buNone/>
            </a:pPr>
            <a:r>
              <a:rPr lang="en-IN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Quantisation Quality Drop: INT8 quantisation for </a:t>
            </a:r>
            <a:r>
              <a:rPr lang="en-IN" sz="14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TFLite</a:t>
            </a:r>
            <a:r>
              <a:rPr lang="en-IN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export can degrade model accuracy, especially for minority classes; per-class threshold recalibration post-quantisation is required</a:t>
            </a:r>
            <a:endParaRPr lang="en-IN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6B14C7-2625-0BE5-CF91-E199813C9185}"/>
              </a:ext>
            </a:extLst>
          </p:cNvPr>
          <p:cNvSpPr txBox="1"/>
          <p:nvPr/>
        </p:nvSpPr>
        <p:spPr>
          <a:xfrm>
            <a:off x="8707148" y="1357745"/>
            <a:ext cx="2972666" cy="3901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400"/>
              </a:spcBef>
              <a:spcAft>
                <a:spcPts val="500"/>
              </a:spcAft>
              <a:buNone/>
            </a:pPr>
            <a:r>
              <a:rPr lang="en-IN" sz="1600" b="1" dirty="0">
                <a:solidFill>
                  <a:srgbClr val="2E74B5"/>
                </a:solidFill>
                <a:effectLst/>
                <a:latin typeface="Arial" panose="020B0604020202020204" pitchFamily="34" charset="0"/>
              </a:rPr>
              <a:t>Deployment Challenges</a:t>
            </a:r>
          </a:p>
          <a:p>
            <a:pPr marL="342900" marR="0" lvl="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On-Device Latency: Ensuring inference completes within 500 </a:t>
            </a:r>
            <a:r>
              <a:rPr lang="en-IN" sz="14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ms</a:t>
            </a:r>
            <a:r>
              <a:rPr lang="en-IN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on a mid-range Android device while rendering Grad-CAM overlays requires careful model profiling and potential post-processing optimisation.</a:t>
            </a:r>
          </a:p>
          <a:p>
            <a:pPr marL="342900" marR="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Regulatory &amp; Ethical Considerations: Skin cancer detection is a safety-critical application; communicating confidence scores and uncertainty to non-specialist users without encouraging self-diagnosis is a key UX challenge.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8800" y="246522"/>
            <a:ext cx="448437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378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Applications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10" dirty="0"/>
              <a:t>Department</a:t>
            </a:r>
            <a:r>
              <a:rPr spc="-4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CSE(IOT</a:t>
            </a:r>
            <a:r>
              <a:rPr spc="-40" dirty="0"/>
              <a:t> </a:t>
            </a:r>
            <a:r>
              <a:rPr dirty="0"/>
              <a:t>&amp;</a:t>
            </a:r>
            <a:r>
              <a:rPr spc="-40" dirty="0"/>
              <a:t> </a:t>
            </a:r>
            <a:r>
              <a:rPr spc="-25" dirty="0"/>
              <a:t>CS)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CDF2D4-6BDB-60D3-9169-54BF79FD01BE}"/>
              </a:ext>
            </a:extLst>
          </p:cNvPr>
          <p:cNvSpPr txBox="1"/>
          <p:nvPr/>
        </p:nvSpPr>
        <p:spPr>
          <a:xfrm>
            <a:off x="333894" y="1371600"/>
            <a:ext cx="3506066" cy="4598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400"/>
              </a:spcBef>
              <a:spcAft>
                <a:spcPts val="500"/>
              </a:spcAft>
              <a:buNone/>
            </a:pPr>
            <a:r>
              <a:rPr lang="en-IN" sz="1600" b="1" dirty="0">
                <a:solidFill>
                  <a:srgbClr val="2E74B5"/>
                </a:solidFill>
                <a:effectLst/>
                <a:latin typeface="Arial" panose="020B0604020202020204" pitchFamily="34" charset="0"/>
              </a:rPr>
              <a:t>Clinical &amp; Healthcare Applications</a:t>
            </a:r>
          </a:p>
          <a:p>
            <a:pPr marL="342900" marR="0" lvl="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Triage Support Tool: Assists general practitioners and nursing staff in primary care settings to flag suspicious lesions for urgent dermatology referral, reducing diagnostic bottlenecks.</a:t>
            </a:r>
          </a:p>
          <a:p>
            <a:pPr marL="342900" marR="0" lvl="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4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Teledermatology</a:t>
            </a:r>
            <a:r>
              <a:rPr lang="en-IN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: Enables remote dermatology consultations in rural or underserved areas where specialist access is limited — a patient captures a smartphone image; the app provides an instant preliminary classification.</a:t>
            </a:r>
          </a:p>
          <a:p>
            <a:pPr marL="342900" marR="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Clinician Decision Support: Provides Grad-CAM-annotated images during consultations to direct the clinician's visual attention to the most diagnostically relevant lesion features.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6AAB74-044D-1538-9966-7F12C1213244}"/>
              </a:ext>
            </a:extLst>
          </p:cNvPr>
          <p:cNvSpPr txBox="1"/>
          <p:nvPr/>
        </p:nvSpPr>
        <p:spPr>
          <a:xfrm>
            <a:off x="4191000" y="1117070"/>
            <a:ext cx="3506066" cy="28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400"/>
              </a:spcBef>
              <a:spcAft>
                <a:spcPts val="500"/>
              </a:spcAft>
              <a:buNone/>
            </a:pPr>
            <a:r>
              <a:rPr lang="en-IN" sz="1600" b="1" dirty="0">
                <a:solidFill>
                  <a:srgbClr val="2E74B5"/>
                </a:solidFill>
                <a:effectLst/>
                <a:latin typeface="Arial" panose="020B0604020202020204" pitchFamily="34" charset="0"/>
              </a:rPr>
              <a:t> Public Health &amp; Awareness</a:t>
            </a:r>
          </a:p>
          <a:p>
            <a:pPr marL="342900" marR="0" lvl="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Population Screening Campaigns: Can be deployed as a free mobile app in large-scale skin cancer awareness campaigns, enabling self-screening at scale.</a:t>
            </a:r>
          </a:p>
          <a:p>
            <a:pPr marL="342900" marR="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Health Equity Research: The fairness audit pipeline (DDI Stanford evaluation) contributes a replicable methodology for measuring and reporting AI health equity metrics in </a:t>
            </a:r>
            <a:r>
              <a:rPr lang="en-IN" sz="14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dermoscopy</a:t>
            </a:r>
            <a:r>
              <a:rPr lang="en-IN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models.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714023-F865-93F6-05CC-ADEA7E7794AE}"/>
              </a:ext>
            </a:extLst>
          </p:cNvPr>
          <p:cNvSpPr txBox="1"/>
          <p:nvPr/>
        </p:nvSpPr>
        <p:spPr>
          <a:xfrm>
            <a:off x="8153400" y="168367"/>
            <a:ext cx="3886200" cy="3921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400"/>
              </a:spcBef>
              <a:spcAft>
                <a:spcPts val="500"/>
              </a:spcAft>
              <a:buNone/>
            </a:pPr>
            <a:r>
              <a:rPr lang="en-IN" sz="1400" b="1" dirty="0">
                <a:solidFill>
                  <a:srgbClr val="2E74B5"/>
                </a:solidFill>
                <a:effectLst/>
                <a:latin typeface="Arial" panose="020B0604020202020204" pitchFamily="34" charset="0"/>
              </a:rPr>
              <a:t>Research &amp; Academic Applications</a:t>
            </a:r>
          </a:p>
          <a:p>
            <a:pPr marL="342900" marR="0" lvl="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Benchmark for Fairness-Aware </a:t>
            </a:r>
            <a:r>
              <a:rPr lang="en-IN" sz="14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Dermoscopy</a:t>
            </a:r>
            <a:r>
              <a:rPr lang="en-IN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Models: DermaLens provides a reproducible training pipeline, multi-dataset taxonomy, and fairness loss formulation that other researchers can build upon.</a:t>
            </a:r>
          </a:p>
          <a:p>
            <a:pPr marL="342900" marR="0" lvl="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Generalisation to Other Skin Conditions: The </a:t>
            </a:r>
            <a:r>
              <a:rPr lang="en-IN" sz="14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FairDermNet</a:t>
            </a:r>
            <a:r>
              <a:rPr lang="en-IN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architecture is generalisable to eczema, psoriasis, or pigmentation disorder classification tasks with minimal retraining.</a:t>
            </a:r>
          </a:p>
          <a:p>
            <a:pPr>
              <a:buNone/>
            </a:pPr>
            <a:r>
              <a:rPr lang="en-IN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XAI in Medical Imaging: The combined Grad-CAM + SHAP explainability module serves as a transferable template for other medical image classification tasks (retinal disease, histopathology, etc.).</a:t>
            </a:r>
            <a:endParaRPr lang="en-IN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339C48-81A3-AF00-E49F-1B9098A0191F}"/>
              </a:ext>
            </a:extLst>
          </p:cNvPr>
          <p:cNvSpPr txBox="1"/>
          <p:nvPr/>
        </p:nvSpPr>
        <p:spPr>
          <a:xfrm>
            <a:off x="5038294" y="4100344"/>
            <a:ext cx="6627495" cy="1982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400"/>
              </a:spcBef>
              <a:spcAft>
                <a:spcPts val="500"/>
              </a:spcAft>
              <a:buNone/>
            </a:pPr>
            <a:r>
              <a:rPr lang="en-IN" sz="1400" b="1" dirty="0">
                <a:solidFill>
                  <a:srgbClr val="2E74B5"/>
                </a:solidFill>
                <a:effectLst/>
                <a:latin typeface="Arial" panose="020B0604020202020204" pitchFamily="34" charset="0"/>
              </a:rPr>
              <a:t>Industry &amp; Commercial Applications</a:t>
            </a:r>
          </a:p>
          <a:p>
            <a:pPr marL="342900" marR="0" lvl="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Integration with Wearables: The lightweight </a:t>
            </a:r>
            <a:r>
              <a:rPr lang="en-IN" sz="14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TFLite</a:t>
            </a:r>
            <a:r>
              <a:rPr lang="en-IN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model can be ported to smartwatches or IoT skin sensors for continuous lesion monitoring.</a:t>
            </a:r>
          </a:p>
          <a:p>
            <a:pPr marL="342900" marR="0" lvl="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Hospital Information System (HIS) Plugin: The model can be packaged as a REST API microservice, enabling plug-in integration with hospital PACS and EHR systems.</a:t>
            </a:r>
          </a:p>
          <a:p>
            <a:pPr>
              <a:buNone/>
            </a:pPr>
            <a:r>
              <a:rPr lang="en-IN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Pharmaceutical &amp; Cosmetic Skin Analysis: Adaptable for skin condition tracking in clinical trials for dermatological drug products.</a:t>
            </a:r>
            <a:endParaRPr lang="en-IN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24890" y="3573106"/>
            <a:ext cx="261874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7F7F7F"/>
                </a:solidFill>
              </a:rPr>
              <a:t>Thank</a:t>
            </a:r>
            <a:r>
              <a:rPr spc="-150" dirty="0">
                <a:solidFill>
                  <a:srgbClr val="7F7F7F"/>
                </a:solidFill>
              </a:rPr>
              <a:t> </a:t>
            </a:r>
            <a:r>
              <a:rPr spc="-25" dirty="0">
                <a:solidFill>
                  <a:srgbClr val="7F7F7F"/>
                </a:solidFill>
              </a:rPr>
              <a:t>you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10" dirty="0"/>
              <a:t>Department</a:t>
            </a:r>
            <a:r>
              <a:rPr spc="-4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CSE(IOT</a:t>
            </a:r>
            <a:r>
              <a:rPr spc="-40" dirty="0"/>
              <a:t> </a:t>
            </a:r>
            <a:r>
              <a:rPr dirty="0"/>
              <a:t>&amp;</a:t>
            </a:r>
            <a:r>
              <a:rPr spc="-40" dirty="0"/>
              <a:t> </a:t>
            </a:r>
            <a:r>
              <a:rPr spc="-25" dirty="0"/>
              <a:t>CS)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227</TotalTime>
  <Words>1466</Words>
  <Application>Microsoft Office PowerPoint</Application>
  <PresentationFormat>Widescreen</PresentationFormat>
  <Paragraphs>96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MT</vt:lpstr>
      <vt:lpstr>Calibri</vt:lpstr>
      <vt:lpstr>Times New Roman</vt:lpstr>
      <vt:lpstr>Office Theme</vt:lpstr>
      <vt:lpstr>“DermaLens: A fairness-Aware, Explainable smartphone  Application for Early Skin Cancer Risk Assessment”</vt:lpstr>
      <vt:lpstr>Content</vt:lpstr>
      <vt:lpstr>Title Of the Project</vt:lpstr>
      <vt:lpstr>Proposed Method</vt:lpstr>
      <vt:lpstr>Objectives</vt:lpstr>
      <vt:lpstr>Motivation</vt:lpstr>
      <vt:lpstr>Challenges</vt:lpstr>
      <vt:lpstr>Applications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Synopsis Presentation.pptx</dc:title>
  <dc:creator>Sanjana TG</dc:creator>
  <cp:lastModifiedBy>Sanjana TG</cp:lastModifiedBy>
  <cp:revision>7</cp:revision>
  <dcterms:created xsi:type="dcterms:W3CDTF">2026-03-22T15:56:56Z</dcterms:created>
  <dcterms:modified xsi:type="dcterms:W3CDTF">2026-03-23T08:46:51Z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2026-03-22T00:00:00Z</vt:filetime>
  </property>
  <property fmtid="{D5CDD505-2E9C-101B-9397-08002B2CF9AE}" pid="3" name="Creator">
    <vt:lpwstr>Google</vt:lpwstr>
  </property>
  <property fmtid="{D5CDD505-2E9C-101B-9397-08002B2CF9AE}" pid="4" name="LastSaved">
    <vt:filetime>2026-03-22T00:00:00Z</vt:filetime>
  </property>
</Properties>
</file>