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78" r:id="rId5"/>
    <p:sldId id="283" r:id="rId6"/>
    <p:sldId id="279" r:id="rId7"/>
    <p:sldId id="284" r:id="rId8"/>
    <p:sldId id="289" r:id="rId9"/>
    <p:sldId id="300" r:id="rId10"/>
    <p:sldId id="299" r:id="rId11"/>
    <p:sldId id="298" r:id="rId12"/>
    <p:sldId id="294" r:id="rId13"/>
    <p:sldId id="312" r:id="rId14"/>
    <p:sldId id="282" r:id="rId15"/>
    <p:sldId id="295" r:id="rId16"/>
    <p:sldId id="302" r:id="rId17"/>
    <p:sldId id="308" r:id="rId18"/>
    <p:sldId id="307" r:id="rId19"/>
    <p:sldId id="303" r:id="rId20"/>
    <p:sldId id="310" r:id="rId21"/>
    <p:sldId id="305" r:id="rId22"/>
    <p:sldId id="309" r:id="rId23"/>
    <p:sldId id="304" r:id="rId24"/>
    <p:sldId id="311" r:id="rId2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A30"/>
    <a:srgbClr val="00A1DA"/>
    <a:srgbClr val="1D1E4C"/>
    <a:srgbClr val="1E1E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5E989-54D6-462F-857C-A50ECA4A078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30EF5EB-ABFA-43E7-8397-E48569C0C7B3}">
      <dgm:prSet phldrT="[Text]" phldr="0"/>
      <dgm:spPr/>
      <dgm:t>
        <a:bodyPr/>
        <a:lstStyle/>
        <a:p>
          <a:r>
            <a:rPr lang="en-US" dirty="0"/>
            <a:t>Input image</a:t>
          </a:r>
          <a:endParaRPr lang="en-IN" dirty="0"/>
        </a:p>
      </dgm:t>
    </dgm:pt>
    <dgm:pt modelId="{63E1B8D6-20A9-4632-8E0B-844B21A32E4B}" type="parTrans" cxnId="{0E1A7822-303B-4FFF-9A93-06794C2DACC5}">
      <dgm:prSet/>
      <dgm:spPr/>
      <dgm:t>
        <a:bodyPr/>
        <a:lstStyle/>
        <a:p>
          <a:endParaRPr lang="en-IN"/>
        </a:p>
      </dgm:t>
    </dgm:pt>
    <dgm:pt modelId="{7092DAB8-4D5E-4A9D-A337-18D49FB94C2A}" type="sibTrans" cxnId="{0E1A7822-303B-4FFF-9A93-06794C2DACC5}">
      <dgm:prSet/>
      <dgm:spPr/>
      <dgm:t>
        <a:bodyPr/>
        <a:lstStyle/>
        <a:p>
          <a:endParaRPr lang="en-IN"/>
        </a:p>
      </dgm:t>
    </dgm:pt>
    <dgm:pt modelId="{D4FF0F59-52B8-414A-9505-B5341E045D12}">
      <dgm:prSet phldrT="[Text]" phldr="0"/>
      <dgm:spPr/>
      <dgm:t>
        <a:bodyPr/>
        <a:lstStyle/>
        <a:p>
          <a:r>
            <a:rPr lang="en-US" dirty="0"/>
            <a:t>Pre processing</a:t>
          </a:r>
          <a:endParaRPr lang="en-IN" dirty="0"/>
        </a:p>
      </dgm:t>
    </dgm:pt>
    <dgm:pt modelId="{D335342A-2A11-4CDC-8BEA-5CA729D5BE09}" type="parTrans" cxnId="{388BBF0B-3C8C-41D9-A071-B14B8C8DDF61}">
      <dgm:prSet/>
      <dgm:spPr/>
      <dgm:t>
        <a:bodyPr/>
        <a:lstStyle/>
        <a:p>
          <a:endParaRPr lang="en-IN"/>
        </a:p>
      </dgm:t>
    </dgm:pt>
    <dgm:pt modelId="{10BFFB7B-10CD-4675-AC76-2A4C78AAA0A7}" type="sibTrans" cxnId="{388BBF0B-3C8C-41D9-A071-B14B8C8DDF61}">
      <dgm:prSet/>
      <dgm:spPr/>
      <dgm:t>
        <a:bodyPr/>
        <a:lstStyle/>
        <a:p>
          <a:endParaRPr lang="en-IN"/>
        </a:p>
      </dgm:t>
    </dgm:pt>
    <dgm:pt modelId="{6C3A4FCE-681F-4441-B2AC-0A23B0B68AA4}">
      <dgm:prSet phldrT="[Text]" phldr="0"/>
      <dgm:spPr/>
      <dgm:t>
        <a:bodyPr/>
        <a:lstStyle/>
        <a:p>
          <a:r>
            <a:rPr lang="en-US" dirty="0"/>
            <a:t>FAIRDERMNET</a:t>
          </a:r>
          <a:endParaRPr lang="en-IN" dirty="0"/>
        </a:p>
      </dgm:t>
    </dgm:pt>
    <dgm:pt modelId="{0CC9EE48-9D59-466C-83C1-0134D4C9E641}" type="parTrans" cxnId="{D21BA0A2-8A30-4C20-A450-182C104FDCAE}">
      <dgm:prSet/>
      <dgm:spPr/>
      <dgm:t>
        <a:bodyPr/>
        <a:lstStyle/>
        <a:p>
          <a:endParaRPr lang="en-IN"/>
        </a:p>
      </dgm:t>
    </dgm:pt>
    <dgm:pt modelId="{D81AE8CB-6B40-4927-83CF-6565020A184A}" type="sibTrans" cxnId="{D21BA0A2-8A30-4C20-A450-182C104FDCAE}">
      <dgm:prSet/>
      <dgm:spPr/>
      <dgm:t>
        <a:bodyPr/>
        <a:lstStyle/>
        <a:p>
          <a:endParaRPr lang="en-IN"/>
        </a:p>
      </dgm:t>
    </dgm:pt>
    <dgm:pt modelId="{625E7DB4-A94C-4A1C-953D-35C612951CC8}">
      <dgm:prSet phldrT="[Text]" phldr="0"/>
      <dgm:spPr/>
      <dgm:t>
        <a:bodyPr/>
        <a:lstStyle/>
        <a:p>
          <a:r>
            <a:rPr lang="en-US"/>
            <a:t>9 class Prediction</a:t>
          </a:r>
          <a:endParaRPr lang="en-IN" dirty="0"/>
        </a:p>
      </dgm:t>
    </dgm:pt>
    <dgm:pt modelId="{2EA4815A-D5D5-4E98-BA19-DF0CA0AE7880}" type="parTrans" cxnId="{B7820ED3-FDE0-4145-A3B7-0E0790397B40}">
      <dgm:prSet/>
      <dgm:spPr/>
      <dgm:t>
        <a:bodyPr/>
        <a:lstStyle/>
        <a:p>
          <a:endParaRPr lang="en-IN"/>
        </a:p>
      </dgm:t>
    </dgm:pt>
    <dgm:pt modelId="{F5106AB8-E80D-48B7-AE56-E3CEC9F1BF8B}" type="sibTrans" cxnId="{B7820ED3-FDE0-4145-A3B7-0E0790397B40}">
      <dgm:prSet/>
      <dgm:spPr/>
      <dgm:t>
        <a:bodyPr/>
        <a:lstStyle/>
        <a:p>
          <a:endParaRPr lang="en-IN"/>
        </a:p>
      </dgm:t>
    </dgm:pt>
    <dgm:pt modelId="{0D407859-7AFA-4929-AF71-5034AC73D5F4}">
      <dgm:prSet phldrT="[Text]" phldr="0"/>
      <dgm:spPr/>
      <dgm:t>
        <a:bodyPr/>
        <a:lstStyle/>
        <a:p>
          <a:r>
            <a:rPr lang="en-US"/>
            <a:t>GRAD-Cam +SHAP</a:t>
          </a:r>
          <a:endParaRPr lang="en-IN" dirty="0"/>
        </a:p>
      </dgm:t>
    </dgm:pt>
    <dgm:pt modelId="{34323997-681F-4E96-B8E3-B3B3F9FFFB09}" type="parTrans" cxnId="{915F863A-1129-4479-A6B1-92651F3D2176}">
      <dgm:prSet/>
      <dgm:spPr/>
      <dgm:t>
        <a:bodyPr/>
        <a:lstStyle/>
        <a:p>
          <a:endParaRPr lang="en-IN"/>
        </a:p>
      </dgm:t>
    </dgm:pt>
    <dgm:pt modelId="{1096BDBE-4C54-4051-B137-87E6E9D0F9BD}" type="sibTrans" cxnId="{915F863A-1129-4479-A6B1-92651F3D2176}">
      <dgm:prSet/>
      <dgm:spPr/>
      <dgm:t>
        <a:bodyPr/>
        <a:lstStyle/>
        <a:p>
          <a:endParaRPr lang="en-IN"/>
        </a:p>
      </dgm:t>
    </dgm:pt>
    <dgm:pt modelId="{2573ED61-5E96-4DE2-8F79-909D8C70051D}">
      <dgm:prSet phldrT="[Text]" phldr="0"/>
      <dgm:spPr/>
      <dgm:t>
        <a:bodyPr/>
        <a:lstStyle/>
        <a:p>
          <a:r>
            <a:rPr lang="en-US" dirty="0"/>
            <a:t>Flutter App</a:t>
          </a:r>
          <a:endParaRPr lang="en-IN" dirty="0"/>
        </a:p>
      </dgm:t>
    </dgm:pt>
    <dgm:pt modelId="{E15F42B0-65F0-4CDD-9586-1AE1E3FF5914}" type="parTrans" cxnId="{C5D87358-C62D-4C6C-8E4A-763CFD4101CE}">
      <dgm:prSet/>
      <dgm:spPr/>
      <dgm:t>
        <a:bodyPr/>
        <a:lstStyle/>
        <a:p>
          <a:endParaRPr lang="en-IN"/>
        </a:p>
      </dgm:t>
    </dgm:pt>
    <dgm:pt modelId="{A766A921-6A05-4D66-9918-065053BDEF94}" type="sibTrans" cxnId="{C5D87358-C62D-4C6C-8E4A-763CFD4101CE}">
      <dgm:prSet/>
      <dgm:spPr/>
      <dgm:t>
        <a:bodyPr/>
        <a:lstStyle/>
        <a:p>
          <a:endParaRPr lang="en-IN"/>
        </a:p>
      </dgm:t>
    </dgm:pt>
    <dgm:pt modelId="{16F75C59-B394-478F-ACCC-FFF9A73B9231}" type="pres">
      <dgm:prSet presAssocID="{B7E5E989-54D6-462F-857C-A50ECA4A0784}" presName="Name0" presStyleCnt="0">
        <dgm:presLayoutVars>
          <dgm:dir/>
          <dgm:resizeHandles val="exact"/>
        </dgm:presLayoutVars>
      </dgm:prSet>
      <dgm:spPr/>
    </dgm:pt>
    <dgm:pt modelId="{563B19C7-3FA3-4899-A013-01DE1919DA02}" type="pres">
      <dgm:prSet presAssocID="{D30EF5EB-ABFA-43E7-8397-E48569C0C7B3}" presName="node" presStyleLbl="node1" presStyleIdx="0" presStyleCnt="6">
        <dgm:presLayoutVars>
          <dgm:bulletEnabled val="1"/>
        </dgm:presLayoutVars>
      </dgm:prSet>
      <dgm:spPr/>
    </dgm:pt>
    <dgm:pt modelId="{632F3914-83B0-4EBF-BE01-5A2ACF4B7B3C}" type="pres">
      <dgm:prSet presAssocID="{7092DAB8-4D5E-4A9D-A337-18D49FB94C2A}" presName="sibTrans" presStyleLbl="sibTrans2D1" presStyleIdx="0" presStyleCnt="5"/>
      <dgm:spPr/>
    </dgm:pt>
    <dgm:pt modelId="{AD1D34BB-B27A-43A5-8400-696BFB8615B9}" type="pres">
      <dgm:prSet presAssocID="{7092DAB8-4D5E-4A9D-A337-18D49FB94C2A}" presName="connectorText" presStyleLbl="sibTrans2D1" presStyleIdx="0" presStyleCnt="5"/>
      <dgm:spPr/>
    </dgm:pt>
    <dgm:pt modelId="{7EE32CFC-2E20-46A9-8448-A9EC7128D290}" type="pres">
      <dgm:prSet presAssocID="{D4FF0F59-52B8-414A-9505-B5341E045D12}" presName="node" presStyleLbl="node1" presStyleIdx="1" presStyleCnt="6">
        <dgm:presLayoutVars>
          <dgm:bulletEnabled val="1"/>
        </dgm:presLayoutVars>
      </dgm:prSet>
      <dgm:spPr/>
    </dgm:pt>
    <dgm:pt modelId="{EBAB4645-CD29-464E-B51C-AE02D95BB27F}" type="pres">
      <dgm:prSet presAssocID="{10BFFB7B-10CD-4675-AC76-2A4C78AAA0A7}" presName="sibTrans" presStyleLbl="sibTrans2D1" presStyleIdx="1" presStyleCnt="5"/>
      <dgm:spPr/>
    </dgm:pt>
    <dgm:pt modelId="{A39CD22C-B485-4830-BABC-C6FC3775F796}" type="pres">
      <dgm:prSet presAssocID="{10BFFB7B-10CD-4675-AC76-2A4C78AAA0A7}" presName="connectorText" presStyleLbl="sibTrans2D1" presStyleIdx="1" presStyleCnt="5"/>
      <dgm:spPr/>
    </dgm:pt>
    <dgm:pt modelId="{C5924AED-CF13-45E9-877E-8FFD1DDCDA88}" type="pres">
      <dgm:prSet presAssocID="{6C3A4FCE-681F-4441-B2AC-0A23B0B68AA4}" presName="node" presStyleLbl="node1" presStyleIdx="2" presStyleCnt="6">
        <dgm:presLayoutVars>
          <dgm:bulletEnabled val="1"/>
        </dgm:presLayoutVars>
      </dgm:prSet>
      <dgm:spPr/>
    </dgm:pt>
    <dgm:pt modelId="{DBC11D7C-A57B-4251-8B82-F0E88E6F6926}" type="pres">
      <dgm:prSet presAssocID="{D81AE8CB-6B40-4927-83CF-6565020A184A}" presName="sibTrans" presStyleLbl="sibTrans2D1" presStyleIdx="2" presStyleCnt="5"/>
      <dgm:spPr/>
    </dgm:pt>
    <dgm:pt modelId="{F7EF03B1-7B69-4436-821C-5AAE74DCD22C}" type="pres">
      <dgm:prSet presAssocID="{D81AE8CB-6B40-4927-83CF-6565020A184A}" presName="connectorText" presStyleLbl="sibTrans2D1" presStyleIdx="2" presStyleCnt="5"/>
      <dgm:spPr/>
    </dgm:pt>
    <dgm:pt modelId="{0DB1CBA9-420C-4CDA-B936-883E3E27F47A}" type="pres">
      <dgm:prSet presAssocID="{625E7DB4-A94C-4A1C-953D-35C612951CC8}" presName="node" presStyleLbl="node1" presStyleIdx="3" presStyleCnt="6">
        <dgm:presLayoutVars>
          <dgm:bulletEnabled val="1"/>
        </dgm:presLayoutVars>
      </dgm:prSet>
      <dgm:spPr/>
    </dgm:pt>
    <dgm:pt modelId="{CE476591-B45F-4A83-A5F7-9AB13A8B8331}" type="pres">
      <dgm:prSet presAssocID="{F5106AB8-E80D-48B7-AE56-E3CEC9F1BF8B}" presName="sibTrans" presStyleLbl="sibTrans2D1" presStyleIdx="3" presStyleCnt="5"/>
      <dgm:spPr/>
    </dgm:pt>
    <dgm:pt modelId="{903EDD24-7CC3-479D-9A78-F522D197745E}" type="pres">
      <dgm:prSet presAssocID="{F5106AB8-E80D-48B7-AE56-E3CEC9F1BF8B}" presName="connectorText" presStyleLbl="sibTrans2D1" presStyleIdx="3" presStyleCnt="5"/>
      <dgm:spPr/>
    </dgm:pt>
    <dgm:pt modelId="{5290D11D-E88C-46DA-A959-652AF62DCE55}" type="pres">
      <dgm:prSet presAssocID="{0D407859-7AFA-4929-AF71-5034AC73D5F4}" presName="node" presStyleLbl="node1" presStyleIdx="4" presStyleCnt="6">
        <dgm:presLayoutVars>
          <dgm:bulletEnabled val="1"/>
        </dgm:presLayoutVars>
      </dgm:prSet>
      <dgm:spPr/>
    </dgm:pt>
    <dgm:pt modelId="{6AAF9663-7CCC-4AC4-AFAB-A786371E4CF2}" type="pres">
      <dgm:prSet presAssocID="{1096BDBE-4C54-4051-B137-87E6E9D0F9BD}" presName="sibTrans" presStyleLbl="sibTrans2D1" presStyleIdx="4" presStyleCnt="5"/>
      <dgm:spPr/>
    </dgm:pt>
    <dgm:pt modelId="{521E051D-0C10-43C8-8D42-7F08792B56CE}" type="pres">
      <dgm:prSet presAssocID="{1096BDBE-4C54-4051-B137-87E6E9D0F9BD}" presName="connectorText" presStyleLbl="sibTrans2D1" presStyleIdx="4" presStyleCnt="5"/>
      <dgm:spPr/>
    </dgm:pt>
    <dgm:pt modelId="{1883D0F6-F10E-4CE9-8E04-8B02D6C45F28}" type="pres">
      <dgm:prSet presAssocID="{2573ED61-5E96-4DE2-8F79-909D8C70051D}" presName="node" presStyleLbl="node1" presStyleIdx="5" presStyleCnt="6">
        <dgm:presLayoutVars>
          <dgm:bulletEnabled val="1"/>
        </dgm:presLayoutVars>
      </dgm:prSet>
      <dgm:spPr/>
    </dgm:pt>
  </dgm:ptLst>
  <dgm:cxnLst>
    <dgm:cxn modelId="{A2A43406-50B4-4569-B39B-78656E19EA4A}" type="presOf" srcId="{0D407859-7AFA-4929-AF71-5034AC73D5F4}" destId="{5290D11D-E88C-46DA-A959-652AF62DCE55}" srcOrd="0" destOrd="0" presId="urn:microsoft.com/office/officeart/2005/8/layout/process1"/>
    <dgm:cxn modelId="{388BBF0B-3C8C-41D9-A071-B14B8C8DDF61}" srcId="{B7E5E989-54D6-462F-857C-A50ECA4A0784}" destId="{D4FF0F59-52B8-414A-9505-B5341E045D12}" srcOrd="1" destOrd="0" parTransId="{D335342A-2A11-4CDC-8BEA-5CA729D5BE09}" sibTransId="{10BFFB7B-10CD-4675-AC76-2A4C78AAA0A7}"/>
    <dgm:cxn modelId="{F3C00E0E-4E8B-41C9-A911-A089E9B1061B}" type="presOf" srcId="{D30EF5EB-ABFA-43E7-8397-E48569C0C7B3}" destId="{563B19C7-3FA3-4899-A013-01DE1919DA02}" srcOrd="0" destOrd="0" presId="urn:microsoft.com/office/officeart/2005/8/layout/process1"/>
    <dgm:cxn modelId="{8D0A2613-6988-479E-88F1-0CED60F716A8}" type="presOf" srcId="{1096BDBE-4C54-4051-B137-87E6E9D0F9BD}" destId="{521E051D-0C10-43C8-8D42-7F08792B56CE}" srcOrd="1" destOrd="0" presId="urn:microsoft.com/office/officeart/2005/8/layout/process1"/>
    <dgm:cxn modelId="{846D0B19-8A88-4EB2-A952-016047AF27BF}" type="presOf" srcId="{10BFFB7B-10CD-4675-AC76-2A4C78AAA0A7}" destId="{EBAB4645-CD29-464E-B51C-AE02D95BB27F}" srcOrd="0" destOrd="0" presId="urn:microsoft.com/office/officeart/2005/8/layout/process1"/>
    <dgm:cxn modelId="{52FDBC20-B6C8-46AD-AA7A-235641FB0A1E}" type="presOf" srcId="{D81AE8CB-6B40-4927-83CF-6565020A184A}" destId="{DBC11D7C-A57B-4251-8B82-F0E88E6F6926}" srcOrd="0" destOrd="0" presId="urn:microsoft.com/office/officeart/2005/8/layout/process1"/>
    <dgm:cxn modelId="{0E1A7822-303B-4FFF-9A93-06794C2DACC5}" srcId="{B7E5E989-54D6-462F-857C-A50ECA4A0784}" destId="{D30EF5EB-ABFA-43E7-8397-E48569C0C7B3}" srcOrd="0" destOrd="0" parTransId="{63E1B8D6-20A9-4632-8E0B-844B21A32E4B}" sibTransId="{7092DAB8-4D5E-4A9D-A337-18D49FB94C2A}"/>
    <dgm:cxn modelId="{028A8130-BCAC-43C8-9D15-047EAE77F97A}" type="presOf" srcId="{6C3A4FCE-681F-4441-B2AC-0A23B0B68AA4}" destId="{C5924AED-CF13-45E9-877E-8FFD1DDCDA88}" srcOrd="0" destOrd="0" presId="urn:microsoft.com/office/officeart/2005/8/layout/process1"/>
    <dgm:cxn modelId="{915F863A-1129-4479-A6B1-92651F3D2176}" srcId="{B7E5E989-54D6-462F-857C-A50ECA4A0784}" destId="{0D407859-7AFA-4929-AF71-5034AC73D5F4}" srcOrd="4" destOrd="0" parTransId="{34323997-681F-4E96-B8E3-B3B3F9FFFB09}" sibTransId="{1096BDBE-4C54-4051-B137-87E6E9D0F9BD}"/>
    <dgm:cxn modelId="{463A163E-90CA-4A0F-8DC5-7DD7C165F023}" type="presOf" srcId="{625E7DB4-A94C-4A1C-953D-35C612951CC8}" destId="{0DB1CBA9-420C-4CDA-B936-883E3E27F47A}" srcOrd="0" destOrd="0" presId="urn:microsoft.com/office/officeart/2005/8/layout/process1"/>
    <dgm:cxn modelId="{4AA38A41-974D-4F73-8BC6-F1C787B195BC}" type="presOf" srcId="{B7E5E989-54D6-462F-857C-A50ECA4A0784}" destId="{16F75C59-B394-478F-ACCC-FFF9A73B9231}" srcOrd="0" destOrd="0" presId="urn:microsoft.com/office/officeart/2005/8/layout/process1"/>
    <dgm:cxn modelId="{FA54E567-5E78-49A0-A272-DFB753C872DB}" type="presOf" srcId="{D4FF0F59-52B8-414A-9505-B5341E045D12}" destId="{7EE32CFC-2E20-46A9-8448-A9EC7128D290}" srcOrd="0" destOrd="0" presId="urn:microsoft.com/office/officeart/2005/8/layout/process1"/>
    <dgm:cxn modelId="{6C392D49-3C43-4356-88D5-A1B65FE5CCC7}" type="presOf" srcId="{10BFFB7B-10CD-4675-AC76-2A4C78AAA0A7}" destId="{A39CD22C-B485-4830-BABC-C6FC3775F796}" srcOrd="1" destOrd="0" presId="urn:microsoft.com/office/officeart/2005/8/layout/process1"/>
    <dgm:cxn modelId="{C5D87358-C62D-4C6C-8E4A-763CFD4101CE}" srcId="{B7E5E989-54D6-462F-857C-A50ECA4A0784}" destId="{2573ED61-5E96-4DE2-8F79-909D8C70051D}" srcOrd="5" destOrd="0" parTransId="{E15F42B0-65F0-4CDD-9586-1AE1E3FF5914}" sibTransId="{A766A921-6A05-4D66-9918-065053BDEF94}"/>
    <dgm:cxn modelId="{C80A2193-8F53-4F2D-9C3B-130B71A1E582}" type="presOf" srcId="{D81AE8CB-6B40-4927-83CF-6565020A184A}" destId="{F7EF03B1-7B69-4436-821C-5AAE74DCD22C}" srcOrd="1" destOrd="0" presId="urn:microsoft.com/office/officeart/2005/8/layout/process1"/>
    <dgm:cxn modelId="{D21BA0A2-8A30-4C20-A450-182C104FDCAE}" srcId="{B7E5E989-54D6-462F-857C-A50ECA4A0784}" destId="{6C3A4FCE-681F-4441-B2AC-0A23B0B68AA4}" srcOrd="2" destOrd="0" parTransId="{0CC9EE48-9D59-466C-83C1-0134D4C9E641}" sibTransId="{D81AE8CB-6B40-4927-83CF-6565020A184A}"/>
    <dgm:cxn modelId="{036769AE-1DC8-4E3B-A4DB-22DB64447610}" type="presOf" srcId="{F5106AB8-E80D-48B7-AE56-E3CEC9F1BF8B}" destId="{903EDD24-7CC3-479D-9A78-F522D197745E}" srcOrd="1" destOrd="0" presId="urn:microsoft.com/office/officeart/2005/8/layout/process1"/>
    <dgm:cxn modelId="{FFD8F2CB-23A4-43B1-8FBA-9A26B546ACFB}" type="presOf" srcId="{1096BDBE-4C54-4051-B137-87E6E9D0F9BD}" destId="{6AAF9663-7CCC-4AC4-AFAB-A786371E4CF2}" srcOrd="0" destOrd="0" presId="urn:microsoft.com/office/officeart/2005/8/layout/process1"/>
    <dgm:cxn modelId="{B7820ED3-FDE0-4145-A3B7-0E0790397B40}" srcId="{B7E5E989-54D6-462F-857C-A50ECA4A0784}" destId="{625E7DB4-A94C-4A1C-953D-35C612951CC8}" srcOrd="3" destOrd="0" parTransId="{2EA4815A-D5D5-4E98-BA19-DF0CA0AE7880}" sibTransId="{F5106AB8-E80D-48B7-AE56-E3CEC9F1BF8B}"/>
    <dgm:cxn modelId="{339D34E3-B708-4CF1-8B01-BA1A9DA472A7}" type="presOf" srcId="{7092DAB8-4D5E-4A9D-A337-18D49FB94C2A}" destId="{AD1D34BB-B27A-43A5-8400-696BFB8615B9}" srcOrd="1" destOrd="0" presId="urn:microsoft.com/office/officeart/2005/8/layout/process1"/>
    <dgm:cxn modelId="{E8BD11E7-F4F3-4CCA-B129-8C6ACDA8ADA4}" type="presOf" srcId="{F5106AB8-E80D-48B7-AE56-E3CEC9F1BF8B}" destId="{CE476591-B45F-4A83-A5F7-9AB13A8B8331}" srcOrd="0" destOrd="0" presId="urn:microsoft.com/office/officeart/2005/8/layout/process1"/>
    <dgm:cxn modelId="{0D8471EB-A371-43E1-B1B0-40455B2464C0}" type="presOf" srcId="{2573ED61-5E96-4DE2-8F79-909D8C70051D}" destId="{1883D0F6-F10E-4CE9-8E04-8B02D6C45F28}" srcOrd="0" destOrd="0" presId="urn:microsoft.com/office/officeart/2005/8/layout/process1"/>
    <dgm:cxn modelId="{CAFA2AF8-9D08-4B5C-8B73-6DEFAD59633A}" type="presOf" srcId="{7092DAB8-4D5E-4A9D-A337-18D49FB94C2A}" destId="{632F3914-83B0-4EBF-BE01-5A2ACF4B7B3C}" srcOrd="0" destOrd="0" presId="urn:microsoft.com/office/officeart/2005/8/layout/process1"/>
    <dgm:cxn modelId="{20BE9D18-5818-4EFB-9D80-7899F189ECFA}" type="presParOf" srcId="{16F75C59-B394-478F-ACCC-FFF9A73B9231}" destId="{563B19C7-3FA3-4899-A013-01DE1919DA02}" srcOrd="0" destOrd="0" presId="urn:microsoft.com/office/officeart/2005/8/layout/process1"/>
    <dgm:cxn modelId="{CFD93556-A273-46D1-A43A-54CDD01B201F}" type="presParOf" srcId="{16F75C59-B394-478F-ACCC-FFF9A73B9231}" destId="{632F3914-83B0-4EBF-BE01-5A2ACF4B7B3C}" srcOrd="1" destOrd="0" presId="urn:microsoft.com/office/officeart/2005/8/layout/process1"/>
    <dgm:cxn modelId="{32236609-E8D7-48AD-A854-7C9839BB9279}" type="presParOf" srcId="{632F3914-83B0-4EBF-BE01-5A2ACF4B7B3C}" destId="{AD1D34BB-B27A-43A5-8400-696BFB8615B9}" srcOrd="0" destOrd="0" presId="urn:microsoft.com/office/officeart/2005/8/layout/process1"/>
    <dgm:cxn modelId="{7F87DEA8-B57F-40D2-87B4-8AF6C893EE56}" type="presParOf" srcId="{16F75C59-B394-478F-ACCC-FFF9A73B9231}" destId="{7EE32CFC-2E20-46A9-8448-A9EC7128D290}" srcOrd="2" destOrd="0" presId="urn:microsoft.com/office/officeart/2005/8/layout/process1"/>
    <dgm:cxn modelId="{438B784D-08C7-4918-97F9-50819F85E6FF}" type="presParOf" srcId="{16F75C59-B394-478F-ACCC-FFF9A73B9231}" destId="{EBAB4645-CD29-464E-B51C-AE02D95BB27F}" srcOrd="3" destOrd="0" presId="urn:microsoft.com/office/officeart/2005/8/layout/process1"/>
    <dgm:cxn modelId="{E049DF60-3410-4B89-B6CD-BC271A2531AD}" type="presParOf" srcId="{EBAB4645-CD29-464E-B51C-AE02D95BB27F}" destId="{A39CD22C-B485-4830-BABC-C6FC3775F796}" srcOrd="0" destOrd="0" presId="urn:microsoft.com/office/officeart/2005/8/layout/process1"/>
    <dgm:cxn modelId="{AE4D1882-7702-4480-A03E-EA31391BF3BA}" type="presParOf" srcId="{16F75C59-B394-478F-ACCC-FFF9A73B9231}" destId="{C5924AED-CF13-45E9-877E-8FFD1DDCDA88}" srcOrd="4" destOrd="0" presId="urn:microsoft.com/office/officeart/2005/8/layout/process1"/>
    <dgm:cxn modelId="{D33192EA-05FC-4355-81FD-4353501821C8}" type="presParOf" srcId="{16F75C59-B394-478F-ACCC-FFF9A73B9231}" destId="{DBC11D7C-A57B-4251-8B82-F0E88E6F6926}" srcOrd="5" destOrd="0" presId="urn:microsoft.com/office/officeart/2005/8/layout/process1"/>
    <dgm:cxn modelId="{3422BFE0-D8F2-4094-A48A-A6B9F32A8318}" type="presParOf" srcId="{DBC11D7C-A57B-4251-8B82-F0E88E6F6926}" destId="{F7EF03B1-7B69-4436-821C-5AAE74DCD22C}" srcOrd="0" destOrd="0" presId="urn:microsoft.com/office/officeart/2005/8/layout/process1"/>
    <dgm:cxn modelId="{4A6F9371-79CB-4162-88BA-AAC4504842D7}" type="presParOf" srcId="{16F75C59-B394-478F-ACCC-FFF9A73B9231}" destId="{0DB1CBA9-420C-4CDA-B936-883E3E27F47A}" srcOrd="6" destOrd="0" presId="urn:microsoft.com/office/officeart/2005/8/layout/process1"/>
    <dgm:cxn modelId="{118309C2-6FE5-4C1F-8AED-3BC8732B00EB}" type="presParOf" srcId="{16F75C59-B394-478F-ACCC-FFF9A73B9231}" destId="{CE476591-B45F-4A83-A5F7-9AB13A8B8331}" srcOrd="7" destOrd="0" presId="urn:microsoft.com/office/officeart/2005/8/layout/process1"/>
    <dgm:cxn modelId="{50907922-1FE3-497C-8EDC-5F05968A03E6}" type="presParOf" srcId="{CE476591-B45F-4A83-A5F7-9AB13A8B8331}" destId="{903EDD24-7CC3-479D-9A78-F522D197745E}" srcOrd="0" destOrd="0" presId="urn:microsoft.com/office/officeart/2005/8/layout/process1"/>
    <dgm:cxn modelId="{E3432FC5-0061-4B3E-9CDF-0C8D32541615}" type="presParOf" srcId="{16F75C59-B394-478F-ACCC-FFF9A73B9231}" destId="{5290D11D-E88C-46DA-A959-652AF62DCE55}" srcOrd="8" destOrd="0" presId="urn:microsoft.com/office/officeart/2005/8/layout/process1"/>
    <dgm:cxn modelId="{7F69C30D-844A-4390-B462-2A58DDC68FA2}" type="presParOf" srcId="{16F75C59-B394-478F-ACCC-FFF9A73B9231}" destId="{6AAF9663-7CCC-4AC4-AFAB-A786371E4CF2}" srcOrd="9" destOrd="0" presId="urn:microsoft.com/office/officeart/2005/8/layout/process1"/>
    <dgm:cxn modelId="{ECE3D9E7-994D-4ADF-A6F0-C7CA6F1964E0}" type="presParOf" srcId="{6AAF9663-7CCC-4AC4-AFAB-A786371E4CF2}" destId="{521E051D-0C10-43C8-8D42-7F08792B56CE}" srcOrd="0" destOrd="0" presId="urn:microsoft.com/office/officeart/2005/8/layout/process1"/>
    <dgm:cxn modelId="{F62FC317-67B3-4F46-97CA-E5BEB66F812E}" type="presParOf" srcId="{16F75C59-B394-478F-ACCC-FFF9A73B9231}" destId="{1883D0F6-F10E-4CE9-8E04-8B02D6C45F2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B19C7-3FA3-4899-A013-01DE1919DA02}">
      <dsp:nvSpPr>
        <dsp:cNvPr id="0" name=""/>
        <dsp:cNvSpPr/>
      </dsp:nvSpPr>
      <dsp:spPr>
        <a:xfrm>
          <a:off x="0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Input image</a:t>
          </a:r>
          <a:endParaRPr lang="en-IN" sz="1500" kern="1200" dirty="0"/>
        </a:p>
      </dsp:txBody>
      <dsp:txXfrm>
        <a:off x="23092" y="326389"/>
        <a:ext cx="1267872" cy="742250"/>
      </dsp:txXfrm>
    </dsp:sp>
    <dsp:sp modelId="{632F3914-83B0-4EBF-BE01-5A2ACF4B7B3C}">
      <dsp:nvSpPr>
        <dsp:cNvPr id="0" name=""/>
        <dsp:cNvSpPr/>
      </dsp:nvSpPr>
      <dsp:spPr>
        <a:xfrm>
          <a:off x="1445462" y="534571"/>
          <a:ext cx="278580" cy="325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1445462" y="599748"/>
        <a:ext cx="195006" cy="195532"/>
      </dsp:txXfrm>
    </dsp:sp>
    <dsp:sp modelId="{7EE32CFC-2E20-46A9-8448-A9EC7128D290}">
      <dsp:nvSpPr>
        <dsp:cNvPr id="0" name=""/>
        <dsp:cNvSpPr/>
      </dsp:nvSpPr>
      <dsp:spPr>
        <a:xfrm>
          <a:off x="1839679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 processing</a:t>
          </a:r>
          <a:endParaRPr lang="en-IN" sz="1500" kern="1200" dirty="0"/>
        </a:p>
      </dsp:txBody>
      <dsp:txXfrm>
        <a:off x="1862771" y="326389"/>
        <a:ext cx="1267872" cy="742250"/>
      </dsp:txXfrm>
    </dsp:sp>
    <dsp:sp modelId="{EBAB4645-CD29-464E-B51C-AE02D95BB27F}">
      <dsp:nvSpPr>
        <dsp:cNvPr id="0" name=""/>
        <dsp:cNvSpPr/>
      </dsp:nvSpPr>
      <dsp:spPr>
        <a:xfrm>
          <a:off x="3285141" y="534571"/>
          <a:ext cx="278580" cy="325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3285141" y="599748"/>
        <a:ext cx="195006" cy="195532"/>
      </dsp:txXfrm>
    </dsp:sp>
    <dsp:sp modelId="{C5924AED-CF13-45E9-877E-8FFD1DDCDA88}">
      <dsp:nvSpPr>
        <dsp:cNvPr id="0" name=""/>
        <dsp:cNvSpPr/>
      </dsp:nvSpPr>
      <dsp:spPr>
        <a:xfrm>
          <a:off x="3679358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FAIRDERMNET</a:t>
          </a:r>
          <a:endParaRPr lang="en-IN" sz="1500" kern="1200" dirty="0"/>
        </a:p>
      </dsp:txBody>
      <dsp:txXfrm>
        <a:off x="3702450" y="326389"/>
        <a:ext cx="1267872" cy="742250"/>
      </dsp:txXfrm>
    </dsp:sp>
    <dsp:sp modelId="{DBC11D7C-A57B-4251-8B82-F0E88E6F6926}">
      <dsp:nvSpPr>
        <dsp:cNvPr id="0" name=""/>
        <dsp:cNvSpPr/>
      </dsp:nvSpPr>
      <dsp:spPr>
        <a:xfrm>
          <a:off x="5124821" y="534571"/>
          <a:ext cx="278580" cy="325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5124821" y="599748"/>
        <a:ext cx="195006" cy="195532"/>
      </dsp:txXfrm>
    </dsp:sp>
    <dsp:sp modelId="{0DB1CBA9-420C-4CDA-B936-883E3E27F47A}">
      <dsp:nvSpPr>
        <dsp:cNvPr id="0" name=""/>
        <dsp:cNvSpPr/>
      </dsp:nvSpPr>
      <dsp:spPr>
        <a:xfrm>
          <a:off x="5519038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9 class Prediction</a:t>
          </a:r>
          <a:endParaRPr lang="en-IN" sz="1500" kern="1200" dirty="0"/>
        </a:p>
      </dsp:txBody>
      <dsp:txXfrm>
        <a:off x="5542130" y="326389"/>
        <a:ext cx="1267872" cy="742250"/>
      </dsp:txXfrm>
    </dsp:sp>
    <dsp:sp modelId="{CE476591-B45F-4A83-A5F7-9AB13A8B8331}">
      <dsp:nvSpPr>
        <dsp:cNvPr id="0" name=""/>
        <dsp:cNvSpPr/>
      </dsp:nvSpPr>
      <dsp:spPr>
        <a:xfrm>
          <a:off x="6964500" y="534571"/>
          <a:ext cx="278580" cy="325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6964500" y="599748"/>
        <a:ext cx="195006" cy="195532"/>
      </dsp:txXfrm>
    </dsp:sp>
    <dsp:sp modelId="{5290D11D-E88C-46DA-A959-652AF62DCE55}">
      <dsp:nvSpPr>
        <dsp:cNvPr id="0" name=""/>
        <dsp:cNvSpPr/>
      </dsp:nvSpPr>
      <dsp:spPr>
        <a:xfrm>
          <a:off x="7358717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GRAD-Cam +SHAP</a:t>
          </a:r>
          <a:endParaRPr lang="en-IN" sz="1500" kern="1200" dirty="0"/>
        </a:p>
      </dsp:txBody>
      <dsp:txXfrm>
        <a:off x="7381809" y="326389"/>
        <a:ext cx="1267872" cy="742250"/>
      </dsp:txXfrm>
    </dsp:sp>
    <dsp:sp modelId="{6AAF9663-7CCC-4AC4-AFAB-A786371E4CF2}">
      <dsp:nvSpPr>
        <dsp:cNvPr id="0" name=""/>
        <dsp:cNvSpPr/>
      </dsp:nvSpPr>
      <dsp:spPr>
        <a:xfrm>
          <a:off x="8804180" y="534571"/>
          <a:ext cx="278580" cy="325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8804180" y="599748"/>
        <a:ext cx="195006" cy="195532"/>
      </dsp:txXfrm>
    </dsp:sp>
    <dsp:sp modelId="{1883D0F6-F10E-4CE9-8E04-8B02D6C45F28}">
      <dsp:nvSpPr>
        <dsp:cNvPr id="0" name=""/>
        <dsp:cNvSpPr/>
      </dsp:nvSpPr>
      <dsp:spPr>
        <a:xfrm>
          <a:off x="9198397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Flutter App</a:t>
          </a:r>
          <a:endParaRPr lang="en-IN" sz="1500" kern="1200" dirty="0"/>
        </a:p>
      </dsp:txBody>
      <dsp:txXfrm>
        <a:off x="9221489" y="326389"/>
        <a:ext cx="1267872" cy="742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EB48F-F0D4-B21F-1DA7-B470C00C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6BBBD-FF66-4632-BD36-F80BA50F2B01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9EC6B-EE00-3DD1-6DF3-F39EB47D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1D275-E9A5-4B04-4EAA-76B54C8E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AE810-E20C-4F27-85F0-30F6502D935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9007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BDED8-ABF5-B04E-D668-3B8CE77FD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574BF-641C-43A8-8D5E-79738B474908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7BF31-43B8-26C7-B307-0D59ABFF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6EBE2-371D-F9D4-4E42-027D88BF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CBC75-42F4-468F-B86F-A083BE5027B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5231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D376A-DDFA-C368-493D-7D94A5F9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0A0983-CF3B-45BE-8E40-D79C7136BFAD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A6BF5-DEC5-3C8A-FBE9-361CFA3C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F907-574F-86C0-0CF3-C5257276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0F7D0-A600-4086-A8AF-367CC02730E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75989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E46B509-84CC-8E33-7E8B-91771AE6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6DAB9-C25C-43C3-8A08-656C49A67A9C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312667-3040-D671-E8E5-48CB040F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7409F86-55D8-35DF-62BB-ED912B97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9EEF7-1D24-40CF-83B1-2AB51BF260E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84582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D3ADC11-EBE0-5B33-46C5-B060F3A4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F2A723-2005-47DC-A4B2-0D39469AE3D3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A9FBE9D-3C44-BFE1-C303-CE66AF2C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982355-CA5C-8E59-441A-1DD343D6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3401E-A97B-4656-9040-AC58172E71E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001564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0F7212F-A712-04A2-0580-A0B6AFE6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E16FD-10CA-4BE0-94BE-ABC7ACA66B0A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1DF65BB-71C0-14F9-E035-40EBC77B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2F2EAD5-2AFA-7C93-9A16-B4A91D5F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006B7-397E-4708-A344-FBE49FDB375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287204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8177B3B-6E2C-E07F-0136-39BCC824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9CE15-754B-4761-82AF-941F2B1BF7C8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A231F31-0634-1525-3BDD-1B83A695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DFB823-DA06-6E36-E069-0C16CCE7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6598A-0DD9-4502-8DF0-79AB086BDDC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92263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097A7E-B798-1F69-049E-E3E790C9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B13EE-CC8A-40CC-BA2F-942C9E8626A7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4AE714-68C4-6E68-B5F7-20EFB5C7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866449-7DFF-2FC1-814D-0A741FED4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74BEE-67FC-404D-9CAC-93601F9C440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52849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F8A4B5C-C648-489F-8F29-6F09D033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08A34-F9C8-49F5-BC37-2909DFD6AE65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7CAC37C-3D1A-5E4D-A3FB-68A68D91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5E469E0-1ABE-A575-E401-370987DD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6E39E-0F4C-49CA-A52F-7C5349A75EC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4411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64637-392E-EC62-AD5F-AEF82A88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1C796-81D6-4382-BE91-540B448733FA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69B4C-DF01-B736-11C5-5D2B151EE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738C8-F8EC-9605-11AE-93391CCD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E0F55-AD10-493F-AE78-1356306D1FA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45792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0074A-3622-813F-AAB0-A391676A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6EEFB-A4E1-4930-B236-5B17D60BE132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29EAC-0EE5-5A92-BF2C-D35E9A25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3C9B3-6D39-C7C1-FF4F-DD80CB4E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867A1-0674-453B-8022-06C70D8CEFC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6397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D094395-09A1-D3F9-23B4-62E15ADBF9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1B9FEDB-D17B-36F0-65C3-363826CEE8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CCA60-1E21-30B6-48B2-D0141FAA3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C89D3B9-15D3-485F-B783-10A1894B72D9}" type="datetimeFigureOut">
              <a:rPr lang="en-IN"/>
              <a:pPr>
                <a:defRPr/>
              </a:pPr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D325C-633B-B6BF-7BFE-948DBC332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9E7CB-FF74-C319-BC71-800ECB2B7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15F5DCB-1FD6-430D-A2EF-D1E50FAAC65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66BBE2-6FE2-65E4-50AB-A62717FA13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2051" name="TextBox 5">
            <a:extLst>
              <a:ext uri="{FF2B5EF4-FFF2-40B4-BE49-F238E27FC236}">
                <a16:creationId xmlns:a16="http://schemas.microsoft.com/office/drawing/2014/main" id="{0F9ABF27-A0CD-E435-0177-83D9B46F9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338" y="6448425"/>
            <a:ext cx="2578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bg1"/>
                </a:solidFill>
              </a:rPr>
              <a:t>www.cambridge.edu.in</a:t>
            </a:r>
          </a:p>
        </p:txBody>
      </p:sp>
      <p:pic>
        <p:nvPicPr>
          <p:cNvPr id="2052" name="Picture Placeholder 8">
            <a:extLst>
              <a:ext uri="{FF2B5EF4-FFF2-40B4-BE49-F238E27FC236}">
                <a16:creationId xmlns:a16="http://schemas.microsoft.com/office/drawing/2014/main" id="{F6AB0CBD-F0F4-BAC1-3CDF-795A46A01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t="-110" r="36201" b="2740"/>
          <a:stretch>
            <a:fillRect/>
          </a:stretch>
        </p:blipFill>
        <p:spPr bwMode="auto">
          <a:xfrm>
            <a:off x="6324600" y="847725"/>
            <a:ext cx="5867400" cy="601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itle 6">
            <a:extLst>
              <a:ext uri="{FF2B5EF4-FFF2-40B4-BE49-F238E27FC236}">
                <a16:creationId xmlns:a16="http://schemas.microsoft.com/office/drawing/2014/main" id="{B4F30113-0041-FFCD-DBD7-EC6F0D568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025" y="5545138"/>
            <a:ext cx="5565775" cy="762000"/>
          </a:xfrm>
        </p:spPr>
        <p:txBody>
          <a:bodyPr/>
          <a:lstStyle/>
          <a:p>
            <a:pPr algn="l" eaLnBrk="1" hangingPunct="1"/>
            <a:r>
              <a:rPr lang="en-US" altLang="en-US" sz="2400" b="1" i="1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</a:t>
            </a:r>
            <a:br>
              <a:rPr lang="en-US" altLang="en-US" sz="2400" b="1" i="1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2400" b="1" i="1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Information Science &amp; Engineering</a:t>
            </a:r>
            <a:endParaRPr lang="en-IN" altLang="en-US" sz="2400" b="1" i="1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9E9E4-7F47-46EC-F6A8-2B4771A75146}"/>
              </a:ext>
            </a:extLst>
          </p:cNvPr>
          <p:cNvSpPr/>
          <p:nvPr/>
        </p:nvSpPr>
        <p:spPr>
          <a:xfrm flipV="1">
            <a:off x="600075" y="5392738"/>
            <a:ext cx="1571625" cy="46037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2055" name="Picture 1">
            <a:extLst>
              <a:ext uri="{FF2B5EF4-FFF2-40B4-BE49-F238E27FC236}">
                <a16:creationId xmlns:a16="http://schemas.microsoft.com/office/drawing/2014/main" id="{95772756-9F4C-60EA-247B-B42DF4C1A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141288"/>
            <a:ext cx="12795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" name="TextBox 1">
            <a:extLst>
              <a:ext uri="{FF2B5EF4-FFF2-40B4-BE49-F238E27FC236}">
                <a16:creationId xmlns:a16="http://schemas.microsoft.com/office/drawing/2014/main" id="{C5B4DE16-32E9-C01A-AED3-7E7188FBF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1045969"/>
            <a:ext cx="50641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Review – 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7" name="TextBox 2">
            <a:extLst>
              <a:ext uri="{FF2B5EF4-FFF2-40B4-BE49-F238E27FC236}">
                <a16:creationId xmlns:a16="http://schemas.microsoft.com/office/drawing/2014/main" id="{1BD01742-2A78-D4D0-55A3-EA5B19245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1624013"/>
            <a:ext cx="5438775" cy="426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2400" u="sng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Title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</a:t>
            </a:r>
            <a:r>
              <a:rPr lang="en-US" sz="2000" dirty="0">
                <a:solidFill>
                  <a:srgbClr val="5B9BD4"/>
                </a:solidFill>
                <a:latin typeface="Calibri"/>
                <a:cs typeface="Calibri"/>
              </a:rPr>
              <a:t>DermaLens: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>
                <a:solidFill>
                  <a:srgbClr val="5B9BD4"/>
                </a:solidFill>
                <a:latin typeface="Calibri"/>
                <a:cs typeface="Calibri"/>
              </a:rPr>
              <a:t>A fairness-Aware, Explainable smartphone</a:t>
            </a:r>
            <a:br>
              <a:rPr lang="en-US" sz="2000" dirty="0">
                <a:solidFill>
                  <a:srgbClr val="5B9BD4"/>
                </a:solidFill>
                <a:latin typeface="Calibri"/>
                <a:cs typeface="Calibri"/>
              </a:rPr>
            </a:br>
            <a:r>
              <a:rPr lang="en-US" sz="2000" dirty="0">
                <a:solidFill>
                  <a:srgbClr val="5B9BD4"/>
                </a:solidFill>
                <a:latin typeface="Calibri"/>
                <a:cs typeface="Calibri"/>
              </a:rPr>
              <a:t> Application for Early Skin Cancer Risk Assessment</a:t>
            </a:r>
            <a:endParaRPr lang="en-US" altLang="en-US" sz="8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No. - 02</a:t>
            </a:r>
            <a:b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 Dhanush                  		 (1CD23IS181)      </a:t>
            </a:r>
            <a:b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Sanjana T G                         	 	 (1CD23IS145)</a:t>
            </a:r>
            <a:b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Vasudha                          		 (1CD23IS186)</a:t>
            </a:r>
            <a:b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altLang="en-US" sz="18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IN" altLang="en-US" sz="1800" dirty="0">
              <a:solidFill>
                <a:schemeClr val="bg1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Priyanka Desai</a:t>
            </a:r>
            <a:b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Prof , ISE department.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24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8" name="Picture 1">
            <a:extLst>
              <a:ext uri="{FF2B5EF4-FFF2-40B4-BE49-F238E27FC236}">
                <a16:creationId xmlns:a16="http://schemas.microsoft.com/office/drawing/2014/main" id="{87B71AEF-B20F-0EE1-3E46-9A5CE6962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Picture 2">
            <a:extLst>
              <a:ext uri="{FF2B5EF4-FFF2-40B4-BE49-F238E27FC236}">
                <a16:creationId xmlns:a16="http://schemas.microsoft.com/office/drawing/2014/main" id="{5A2AD613-FC88-743E-6976-93CA87AE3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85888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0BFF73D-0880-D2FD-D6C1-9B6E3BFD1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b="1" dirty="0">
              <a:solidFill>
                <a:srgbClr val="000A30"/>
              </a:solidFill>
              <a:latin typeface="+mn-lt"/>
            </a:endParaRP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B2C00386-E859-2ADC-6E03-7FBFFCE2A803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800" b="1" dirty="0"/>
              <a:t>Abstract</a:t>
            </a:r>
            <a:endParaRPr lang="en-US" sz="1800" dirty="0"/>
          </a:p>
          <a:p>
            <a:r>
              <a:rPr lang="en-US" sz="1800" dirty="0"/>
              <a:t>Skin cancer, one of the most prevalent cancers worldwide, demands early and accurate detection for improved patient outcomes. Existing AI-based diagnostic tools suffer from racial bias - performing poorly on darker skin tones due to skewed training datasets - and lack transparency in their decision-making. DermaLens addresses these gaps by proposing a fairness-aware, explainable skin lesion classification system for mobile deployment.</a:t>
            </a:r>
          </a:p>
          <a:p>
            <a:r>
              <a:rPr lang="en-US" sz="1800" dirty="0"/>
              <a:t>The system is built </a:t>
            </a:r>
            <a:r>
              <a:rPr lang="en-US" sz="1800" b="1" dirty="0"/>
              <a:t>on </a:t>
            </a:r>
            <a:r>
              <a:rPr lang="en-US" sz="1800" b="1" dirty="0" err="1"/>
              <a:t>FairDermNet</a:t>
            </a:r>
            <a:r>
              <a:rPr lang="en-US" sz="1800" dirty="0"/>
              <a:t>, a lightweight deep learning architecture combining </a:t>
            </a:r>
            <a:r>
              <a:rPr lang="en-US" sz="1800" b="1" dirty="0"/>
              <a:t>MobileNetV3-Large</a:t>
            </a:r>
            <a:r>
              <a:rPr lang="en-US" sz="1800" dirty="0"/>
              <a:t> with a </a:t>
            </a:r>
            <a:r>
              <a:rPr lang="en-US" sz="1800" b="1" i="1" dirty="0" err="1"/>
              <a:t>FairnessAttentionModule</a:t>
            </a:r>
            <a:r>
              <a:rPr lang="en-US" sz="1800" b="1" i="1" dirty="0"/>
              <a:t> (FAM) </a:t>
            </a:r>
            <a:r>
              <a:rPr lang="en-US" sz="1800" dirty="0"/>
              <a:t>and </a:t>
            </a:r>
            <a:r>
              <a:rPr lang="en-US" sz="1800" b="1" i="1" dirty="0" err="1"/>
              <a:t>Generalised</a:t>
            </a:r>
            <a:r>
              <a:rPr lang="en-US" sz="1800" b="1" i="1" dirty="0"/>
              <a:t> Mean Pooling (</a:t>
            </a:r>
            <a:r>
              <a:rPr lang="en-US" sz="1800" b="1" i="1" dirty="0" err="1"/>
              <a:t>GeM</a:t>
            </a:r>
            <a:r>
              <a:rPr lang="en-US" sz="1800" b="1" dirty="0"/>
              <a:t>), </a:t>
            </a:r>
            <a:r>
              <a:rPr lang="en-US" sz="1800" dirty="0"/>
              <a:t>trained to classify dermoscopic and smartphone images into 9 clinically relevant categories: MEL, BCC, SCC, AK, BOD, NV, BKL, DF, and VASC. Training integrates a composite fairness loss that </a:t>
            </a:r>
            <a:r>
              <a:rPr lang="en-US" sz="1800" dirty="0" err="1"/>
              <a:t>penalises</a:t>
            </a:r>
            <a:r>
              <a:rPr lang="en-US" sz="1800" dirty="0"/>
              <a:t> performance disparity across Fitzpatrick skin-tone groups I–VI, evaluated on the held-out DDI Stanford dataset. Grad-CAM and SHAP-based visual explanations are generated per prediction to support clinical interpretability. The final model is exported as a </a:t>
            </a:r>
            <a:r>
              <a:rPr lang="en-US" sz="1800" dirty="0" err="1"/>
              <a:t>TFLite</a:t>
            </a:r>
            <a:r>
              <a:rPr lang="en-US" sz="1800" dirty="0"/>
              <a:t> INT8 </a:t>
            </a:r>
            <a:r>
              <a:rPr lang="en-US" sz="1800" dirty="0" err="1"/>
              <a:t>quantised</a:t>
            </a:r>
            <a:r>
              <a:rPr lang="en-US" sz="1800" dirty="0"/>
              <a:t> model and integrated into a cross-platform Flutter application, enabling accessible, on-device inference without specialist hardware.</a:t>
            </a:r>
          </a:p>
          <a:p>
            <a:r>
              <a:rPr lang="en-US" sz="1800" dirty="0"/>
              <a:t>DermaLens demonstrates that accuracy, fairness, and explainability can be jointly </a:t>
            </a:r>
            <a:r>
              <a:rPr lang="en-US" sz="1800" dirty="0" err="1"/>
              <a:t>optimised</a:t>
            </a:r>
            <a:r>
              <a:rPr lang="en-US" sz="1800" dirty="0"/>
              <a:t> in a resource-efficient architecture, contributing a reproducible pipeline for equitable AI-assisted dermatology.</a:t>
            </a: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8D088FB8-DED7-16C0-07E8-5703031EA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9E4F764-E364-48CD-3605-FD45C5D2325B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237DBC-0838-CB7A-7B5C-F59458EFA819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3D3B8F-7882-DBAC-BC90-EFC1360D5088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A3DB06BF-B4B9-053F-4691-1B400A449687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1BACF830-F6CC-DCC4-B63F-DB3B6463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149521FF-7A8E-72CD-E0F0-1F1C9C652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1857E4-0C95-362F-DB5F-5CFB30E15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8663" y="31750"/>
            <a:ext cx="5126037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solidFill>
                <a:srgbClr val="000A30"/>
              </a:solidFill>
              <a:latin typeface="+mn-lt"/>
            </a:endParaRPr>
          </a:p>
        </p:txBody>
      </p:sp>
      <p:pic>
        <p:nvPicPr>
          <p:cNvPr id="4099" name="Picture 18">
            <a:extLst>
              <a:ext uri="{FF2B5EF4-FFF2-40B4-BE49-F238E27FC236}">
                <a16:creationId xmlns:a16="http://schemas.microsoft.com/office/drawing/2014/main" id="{D95C1D19-D748-2945-AC0A-E97080D48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AC41AE4-DD75-6D20-9A6D-E9DA827D4841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DFBE80-2BEF-0D5B-848B-BB9967852FBC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82263C-06F9-344B-24FB-99B422796B75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4103" name="Title 6">
            <a:extLst>
              <a:ext uri="{FF2B5EF4-FFF2-40B4-BE49-F238E27FC236}">
                <a16:creationId xmlns:a16="http://schemas.microsoft.com/office/drawing/2014/main" id="{C7E4C274-5C2E-D2BA-28E1-35D141357A8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4104" name="TextBox 4">
            <a:extLst>
              <a:ext uri="{FF2B5EF4-FFF2-40B4-BE49-F238E27FC236}">
                <a16:creationId xmlns:a16="http://schemas.microsoft.com/office/drawing/2014/main" id="{31504C3E-C8E0-A82F-E680-BD64282B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1363663"/>
            <a:ext cx="11115675" cy="4503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000" dirty="0"/>
              <a:t>Skin cancer accounts for a significant proportion of cancer diagnoses globally, with early detection being the single most critical factor in improving survival rates. Dermatologists rely on visual examination of skin lesions, a process that is time-intensive, specialist-dependent, and largely inaccessible to rural or resource-limited populations. The rapid advancement of deep learning has opened the door to automated skin lesion analysis - yet most existing models are trained predominantly on dermoscopic images of lighter skin tones, leading to well-documented performance disparities across diverse patient demographics.</a:t>
            </a:r>
          </a:p>
          <a:p>
            <a:r>
              <a:rPr lang="en-US" sz="2000" dirty="0"/>
              <a:t>Beyond accuracy, clinical adoption of AI diagnostic tools demands transparency. A model that outputs a diagnosis label without justification offers little value to a practitioner who must explain and defend every clinical decision.</a:t>
            </a:r>
          </a:p>
          <a:p>
            <a:r>
              <a:rPr lang="en-US" sz="2000" dirty="0"/>
              <a:t>DermaLens is proposed as a fairness-aware, explainable skin cancer detection system designed to address both shortcomings. By combining a lightweight neural architecture with skin-tone-conditioned fairness </a:t>
            </a:r>
            <a:r>
              <a:rPr lang="en-US" sz="2000" dirty="0" err="1"/>
              <a:t>regularisation</a:t>
            </a:r>
            <a:r>
              <a:rPr lang="en-US" sz="2000" dirty="0"/>
              <a:t>, multi-dataset training, and Grad-CAM-based visual explanations, DermaLens aims to deliver equitable and interpretable 9-class lesion classification on a smartphone - making reliable preliminary diagnosis accessible to anyone, anywhere.</a:t>
            </a:r>
          </a:p>
        </p:txBody>
      </p:sp>
      <p:pic>
        <p:nvPicPr>
          <p:cNvPr id="4105" name="Picture 1">
            <a:extLst>
              <a:ext uri="{FF2B5EF4-FFF2-40B4-BE49-F238E27FC236}">
                <a16:creationId xmlns:a16="http://schemas.microsoft.com/office/drawing/2014/main" id="{AEF0B924-4E62-D982-4BED-6BD79D147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2">
            <a:extLst>
              <a:ext uri="{FF2B5EF4-FFF2-40B4-BE49-F238E27FC236}">
                <a16:creationId xmlns:a16="http://schemas.microsoft.com/office/drawing/2014/main" id="{3B6CDEC0-5D7F-A963-0F92-5F02E18DC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89744D-13C6-3E41-DA8D-7DE4433F8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8663" y="31750"/>
            <a:ext cx="5126037" cy="67945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solidFill>
                <a:srgbClr val="000A30"/>
              </a:solidFill>
              <a:latin typeface="+mn-lt"/>
            </a:endParaRPr>
          </a:p>
        </p:txBody>
      </p:sp>
      <p:pic>
        <p:nvPicPr>
          <p:cNvPr id="5123" name="Picture 18">
            <a:extLst>
              <a:ext uri="{FF2B5EF4-FFF2-40B4-BE49-F238E27FC236}">
                <a16:creationId xmlns:a16="http://schemas.microsoft.com/office/drawing/2014/main" id="{24CA814C-2BF1-5608-9CEB-0A18FEFE5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6833B69-2916-B1ED-05DB-1BD01B4D2765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CD11DD-0239-92C0-7424-F239FA3B795F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20B05D-53BE-3E88-088F-13A9919F341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5127" name="Title 6">
            <a:extLst>
              <a:ext uri="{FF2B5EF4-FFF2-40B4-BE49-F238E27FC236}">
                <a16:creationId xmlns:a16="http://schemas.microsoft.com/office/drawing/2014/main" id="{02CCCF41-C136-9520-C941-A1FEC9FC678E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7CB63-0C03-1C4B-881C-3014FBCD90A1}"/>
              </a:ext>
            </a:extLst>
          </p:cNvPr>
          <p:cNvSpPr txBox="1"/>
          <p:nvPr/>
        </p:nvSpPr>
        <p:spPr>
          <a:xfrm>
            <a:off x="538162" y="1002169"/>
            <a:ext cx="11115675" cy="47705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1600" dirty="0"/>
              <a:t>Despite significant advances in AI-assisted medical imaging, automated skin cancer detection systems remain hindered by three fundamental problems.</a:t>
            </a:r>
          </a:p>
          <a:p>
            <a:endParaRPr lang="en-US" sz="1600" dirty="0"/>
          </a:p>
          <a:p>
            <a:r>
              <a:rPr lang="en-US" sz="1600" b="1" dirty="0"/>
              <a:t>Demographic Bias:</a:t>
            </a:r>
            <a:r>
              <a:rPr lang="en-US" sz="1600" dirty="0"/>
              <a:t> Publicly available </a:t>
            </a:r>
            <a:r>
              <a:rPr lang="en-US" sz="1600" dirty="0" err="1"/>
              <a:t>dermoscopy</a:t>
            </a:r>
            <a:r>
              <a:rPr lang="en-US" sz="1600" dirty="0"/>
              <a:t> datasets such as HAM10000 and ISIC 2019 are heavily skewed toward Fitzpatrick skin-tone groups I–III (lighter skin), causing trained models to exhibit significantly lower sensitivity and specificity on patients with darker skin tones (Fitzpatrick IV–VI) - the very population least likely to have access to specialist dermatological care.</a:t>
            </a:r>
          </a:p>
          <a:p>
            <a:endParaRPr lang="en-US" sz="1600" dirty="0"/>
          </a:p>
          <a:p>
            <a:r>
              <a:rPr lang="en-US" sz="1600" b="1" dirty="0"/>
              <a:t>Lack of Explainability:</a:t>
            </a:r>
            <a:r>
              <a:rPr lang="en-US" sz="1600" dirty="0"/>
              <a:t> Most deployed classification models function as black boxes, providing a diagnostic label without any visual or feature-level justification. This opacity prevents clinical adoption, as practitioners cannot verify, trust, or act on predictions without understanding their basis.</a:t>
            </a:r>
          </a:p>
          <a:p>
            <a:endParaRPr lang="en-US" sz="1600" dirty="0"/>
          </a:p>
          <a:p>
            <a:r>
              <a:rPr lang="en-US" sz="1600" b="1" dirty="0"/>
              <a:t>Limited Accessibility:</a:t>
            </a:r>
            <a:r>
              <a:rPr lang="en-US" sz="1600" dirty="0"/>
              <a:t> High-quality skin lesion analysis currently requires expensive </a:t>
            </a:r>
            <a:r>
              <a:rPr lang="en-US" sz="1600" dirty="0" err="1"/>
              <a:t>dermatoscopy</a:t>
            </a:r>
            <a:r>
              <a:rPr lang="en-US" sz="1600" dirty="0"/>
              <a:t> hardware and trained specialists, creating a significant barrier in primary care, rural, and low-income settings where early screening is most needed.</a:t>
            </a:r>
          </a:p>
          <a:p>
            <a:endParaRPr lang="en-US" sz="1600" dirty="0"/>
          </a:p>
          <a:p>
            <a:r>
              <a:rPr lang="en-US" sz="1600" dirty="0"/>
              <a:t>Collectively, these gaps result in an AI diagnostic landscape that is accurate for a narrow demographic, uninterpretable to clinicians, and inaccessible to the broader population. DermaLens is proposed to directly address all three - building a system that is fair across skin tones, explainable in its reasoning, and deployable on an ordinary smartphone.</a:t>
            </a:r>
          </a:p>
        </p:txBody>
      </p:sp>
      <p:pic>
        <p:nvPicPr>
          <p:cNvPr id="5129" name="Picture 1">
            <a:extLst>
              <a:ext uri="{FF2B5EF4-FFF2-40B4-BE49-F238E27FC236}">
                <a16:creationId xmlns:a16="http://schemas.microsoft.com/office/drawing/2014/main" id="{EA8E77AD-14EA-2CC5-8E20-0D1B98606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2">
            <a:extLst>
              <a:ext uri="{FF2B5EF4-FFF2-40B4-BE49-F238E27FC236}">
                <a16:creationId xmlns:a16="http://schemas.microsoft.com/office/drawing/2014/main" id="{AE61E0A3-A156-28E5-AD1D-89A25BD2F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463F7C8-913B-68A6-AA0A-4A9B49CD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3925" y="-249238"/>
            <a:ext cx="10515600" cy="1327151"/>
          </a:xfrm>
        </p:spPr>
        <p:txBody>
          <a:bodyPr/>
          <a:lstStyle/>
          <a:p>
            <a:pPr algn="ctr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B909E1-E960-6E13-F70C-D5409B99B9D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6DE4CC-D2C8-CA54-0047-0804A5D2B9A7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64C64A-7A6C-9388-9B95-9A4E7A31C62F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6151" name="Title 6">
            <a:extLst>
              <a:ext uri="{FF2B5EF4-FFF2-40B4-BE49-F238E27FC236}">
                <a16:creationId xmlns:a16="http://schemas.microsoft.com/office/drawing/2014/main" id="{DC3A2A28-4853-B3DC-47AD-A04D2FEA56B5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6152" name="Picture 1">
            <a:extLst>
              <a:ext uri="{FF2B5EF4-FFF2-40B4-BE49-F238E27FC236}">
                <a16:creationId xmlns:a16="http://schemas.microsoft.com/office/drawing/2014/main" id="{4F1B604C-8FFF-614B-7909-140F5083A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3">
            <a:extLst>
              <a:ext uri="{FF2B5EF4-FFF2-40B4-BE49-F238E27FC236}">
                <a16:creationId xmlns:a16="http://schemas.microsoft.com/office/drawing/2014/main" id="{B32CBFCA-BEAA-D262-FCC4-4B6177CDD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9001F105-C8AA-38FC-1319-E539A8B74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220" y="920621"/>
            <a:ext cx="1060132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skin lesions into 9 categories (MEL, BCC, SCC, AK, BOD, NV, BKL, DF, VASC) using a lightweight deep learning model trained on multi-source dermoscopic and smartphone image datasets.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incorporate skin-tone fairness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regularisation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ensuring equitable model performance across Fitzpatrick skin-tone groups I–VI.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per-prediction visual explanations using Grad-CAM and SHAP, improving model interpretability and clinical transparency.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export the trained model as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INT8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format for efficient on-device inference within a cross-platform Flutter mobile application.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model performance and fairness metrics on the held-out DDI Stanford dataset, benchmarking bias reduction across diverse skin-tone groups.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948CFF-01F2-C368-2BB7-8AC9E2EF7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46038"/>
            <a:ext cx="5126037" cy="67945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pic>
        <p:nvPicPr>
          <p:cNvPr id="7171" name="Picture 18">
            <a:extLst>
              <a:ext uri="{FF2B5EF4-FFF2-40B4-BE49-F238E27FC236}">
                <a16:creationId xmlns:a16="http://schemas.microsoft.com/office/drawing/2014/main" id="{7AEB40DE-FE46-2E63-BBEA-88FF880EA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54F1B14-9CB6-F675-A3DD-2255FA337420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378209-320D-9174-D46C-B549DB6AACB0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089DB2-55C4-8626-CB1C-3FDBEC2DF5BE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7175" name="Title 6">
            <a:extLst>
              <a:ext uri="{FF2B5EF4-FFF2-40B4-BE49-F238E27FC236}">
                <a16:creationId xmlns:a16="http://schemas.microsoft.com/office/drawing/2014/main" id="{D3521872-68AC-0D77-09FC-1893757D8651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177" name="Picture 1">
            <a:extLst>
              <a:ext uri="{FF2B5EF4-FFF2-40B4-BE49-F238E27FC236}">
                <a16:creationId xmlns:a16="http://schemas.microsoft.com/office/drawing/2014/main" id="{1985E71C-BACD-5C8F-2C1C-E82309CD4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2">
            <a:extLst>
              <a:ext uri="{FF2B5EF4-FFF2-40B4-BE49-F238E27FC236}">
                <a16:creationId xmlns:a16="http://schemas.microsoft.com/office/drawing/2014/main" id="{FDCC39E0-E257-EF70-3FB7-01248617E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B7FBF3-9116-1DAF-C715-E0AF0A229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1048338"/>
            <a:ext cx="1100296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FairDermNet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a custom architecture built on MobileNetV3-Large, extended with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FairnessAttentionModule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(FAM)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Generalised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 Pooling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skin-tone-aware feature extraction.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on a combined dataset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~37,000 images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(HAM10000 + ISIC 2019 + PAD-UFES-20) spanning dermoscopic and smartphone image sources across 9 lesion classes.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composite fairness loss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(α=1.0, β=0.15, γ=0.25) during training to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penalise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 disparity across Fitzpatrick skin-tone groups I–VI.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Grad-CAM and SHAP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explainability modules to generate visual heatmaps highlighting the lesion regions driving each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 the best checkpoint as a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INT8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quantised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lightweight, on-device inference without cloud dependency.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via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Flutter mobile application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accepts a smartphone image, runs inference locally, and displays the predicted class, confidence score, and Grad-CAM overlay.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 audit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held-out DDI Stanford dataset (656 images) to evaluate and report equalized odds across skin-tone codes 12 / 34 / 56.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7DF17470-5D84-7091-694E-AF108E51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75" y="-201613"/>
            <a:ext cx="10515600" cy="1325563"/>
          </a:xfrm>
        </p:spPr>
        <p:txBody>
          <a:bodyPr/>
          <a:lstStyle/>
          <a:p>
            <a:pPr algn="ctr"/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for Authentication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BBB3315E-9ECC-E9BD-C384-4222A8F1D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463156"/>
              </p:ext>
            </p:extLst>
          </p:nvPr>
        </p:nvGraphicFramePr>
        <p:xfrm>
          <a:off x="660399" y="1092247"/>
          <a:ext cx="10881570" cy="520563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54510">
                  <a:extLst>
                    <a:ext uri="{9D8B030D-6E8A-4147-A177-3AD203B41FA5}">
                      <a16:colId xmlns:a16="http://schemas.microsoft.com/office/drawing/2014/main" val="168634370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1960017124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3894152448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269406572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3686171977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1046404280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2517209283"/>
                    </a:ext>
                  </a:extLst>
                </a:gridCol>
              </a:tblGrid>
              <a:tr h="3194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System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Backbone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Classes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Dataset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Explainability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Fairness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Mobile</a:t>
                      </a:r>
                      <a:endParaRPr lang="en-IN" sz="1800" b="1" dirty="0"/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1097530216"/>
                  </a:ext>
                </a:extLst>
              </a:tr>
              <a:tr h="559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Skin-DeepNet</a:t>
                      </a:r>
                      <a:r>
                        <a:rPr lang="en-IN" sz="1600"/>
                        <a:t> (2025)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HRNet + DBN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</a:t>
                      </a:r>
                      <a:endParaRPr lang="en-IN" sz="1600" dirty="0"/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HAM10000, ISIC 2019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  <a:endParaRPr lang="en-IN" sz="1600" dirty="0"/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2298676879"/>
                  </a:ext>
                </a:extLst>
              </a:tr>
              <a:tr h="79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SNC_Net</a:t>
                      </a:r>
                      <a:r>
                        <a:rPr lang="en-IN" sz="1600"/>
                        <a:t> (2024)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CNN + Handcrafted features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8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ISIC 2019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1106325218"/>
                  </a:ext>
                </a:extLst>
              </a:tr>
              <a:tr h="79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Ensemble CNN+ViT</a:t>
                      </a:r>
                      <a:r>
                        <a:rPr lang="en-IN" sz="1600"/>
                        <a:t> (2025)</a:t>
                      </a:r>
                      <a:endParaRPr lang="en-IN" sz="1600" dirty="0"/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ResNet + ViT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CSMUH (hospital dataset)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Partial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1032145442"/>
                  </a:ext>
                </a:extLst>
              </a:tr>
              <a:tr h="79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DeepLabV3+ Framework</a:t>
                      </a:r>
                      <a:r>
                        <a:rPr lang="en-IN" sz="1600"/>
                        <a:t> (2025)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InceptionResNetV2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HAM10000, ISIC 2018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Grad-CAM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3108903717"/>
                  </a:ext>
                </a:extLst>
              </a:tr>
              <a:tr h="1038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Standard ResNet/EfficientNet</a:t>
                      </a:r>
                      <a:r>
                        <a:rPr lang="en-IN" sz="1600"/>
                        <a:t> (baseline)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ResNet / EfficientNetB0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7–8</a:t>
                      </a:r>
                      <a:endParaRPr lang="en-IN" sz="1600" dirty="0"/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ISIC 2019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✗</a:t>
                      </a:r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1102942795"/>
                  </a:ext>
                </a:extLst>
              </a:tr>
              <a:tr h="79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DermaLens</a:t>
                      </a:r>
                      <a:r>
                        <a:rPr lang="en-IN" sz="1600" dirty="0"/>
                        <a:t> (proposed)</a:t>
                      </a:r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MobileNetV3 + FAM + GeM</a:t>
                      </a:r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9</a:t>
                      </a:r>
                      <a:endParaRPr lang="en-IN" sz="1600"/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HAM10000 + ISIC 2019 + PAD-UFES-20</a:t>
                      </a:r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Grad-CAM + SHAP</a:t>
                      </a:r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✓</a:t>
                      </a:r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✓ </a:t>
                      </a:r>
                      <a:r>
                        <a:rPr lang="en-IN" sz="1600" dirty="0" err="1"/>
                        <a:t>TFLite</a:t>
                      </a:r>
                      <a:endParaRPr lang="en-IN" sz="1600" dirty="0"/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211291"/>
                  </a:ext>
                </a:extLst>
              </a:tr>
            </a:tbl>
          </a:graphicData>
        </a:graphic>
      </p:graphicFrame>
      <p:pic>
        <p:nvPicPr>
          <p:cNvPr id="8196" name="Picture 18">
            <a:extLst>
              <a:ext uri="{FF2B5EF4-FFF2-40B4-BE49-F238E27FC236}">
                <a16:creationId xmlns:a16="http://schemas.microsoft.com/office/drawing/2014/main" id="{286A7E65-52F9-FCB1-DF77-078538701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31A81C2-9B41-5AA3-FB0B-565C44CE1BC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29713B-45B8-8CA1-5A26-1D33F22390AB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2280D0-489A-0B03-4CA0-B9E496AB84AF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8200" name="Title 6">
            <a:extLst>
              <a:ext uri="{FF2B5EF4-FFF2-40B4-BE49-F238E27FC236}">
                <a16:creationId xmlns:a16="http://schemas.microsoft.com/office/drawing/2014/main" id="{B6F66DA1-CE7D-92BC-F619-85D5C1EC86CC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8201" name="Picture 1">
            <a:extLst>
              <a:ext uri="{FF2B5EF4-FFF2-40B4-BE49-F238E27FC236}">
                <a16:creationId xmlns:a16="http://schemas.microsoft.com/office/drawing/2014/main" id="{D749725C-CDC0-6F1D-96E6-A15DAFA85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3">
            <a:extLst>
              <a:ext uri="{FF2B5EF4-FFF2-40B4-BE49-F238E27FC236}">
                <a16:creationId xmlns:a16="http://schemas.microsoft.com/office/drawing/2014/main" id="{2723852B-5A17-53C3-5FB3-41BA1A35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8">
            <a:extLst>
              <a:ext uri="{FF2B5EF4-FFF2-40B4-BE49-F238E27FC236}">
                <a16:creationId xmlns:a16="http://schemas.microsoft.com/office/drawing/2014/main" id="{6C6891E1-FB08-7570-AAA2-491B290DD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55563"/>
            <a:ext cx="8513762" cy="1003300"/>
          </a:xfrm>
        </p:spPr>
        <p:txBody>
          <a:bodyPr/>
          <a:lstStyle/>
          <a:p>
            <a:pPr algn="l"/>
            <a:r>
              <a:rPr lang="en-GB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9" name="Picture 18">
            <a:extLst>
              <a:ext uri="{FF2B5EF4-FFF2-40B4-BE49-F238E27FC236}">
                <a16:creationId xmlns:a16="http://schemas.microsoft.com/office/drawing/2014/main" id="{D5D55FC4-F73B-2E25-E16B-254D4B90D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2B0D59F-AEC8-CF8A-D5D8-AD227D9EA8CB}"/>
              </a:ext>
            </a:extLst>
          </p:cNvPr>
          <p:cNvSpPr/>
          <p:nvPr/>
        </p:nvSpPr>
        <p:spPr>
          <a:xfrm>
            <a:off x="1982788" y="985838"/>
            <a:ext cx="900112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4E746E-BA38-4540-271E-D3845F8114B3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0E0F9C-ADEE-F075-7A0F-E0DBB40BB305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9223" name="Title 6">
            <a:extLst>
              <a:ext uri="{FF2B5EF4-FFF2-40B4-BE49-F238E27FC236}">
                <a16:creationId xmlns:a16="http://schemas.microsoft.com/office/drawing/2014/main" id="{E7393600-173B-F80E-39FA-6A0B1387EC8C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9225" name="Picture 1">
            <a:extLst>
              <a:ext uri="{FF2B5EF4-FFF2-40B4-BE49-F238E27FC236}">
                <a16:creationId xmlns:a16="http://schemas.microsoft.com/office/drawing/2014/main" id="{9F4A0433-297D-159C-867C-6A47983A2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3">
            <a:extLst>
              <a:ext uri="{FF2B5EF4-FFF2-40B4-BE49-F238E27FC236}">
                <a16:creationId xmlns:a16="http://schemas.microsoft.com/office/drawing/2014/main" id="{753DA49D-28BA-F472-10F1-8AD3BAEA5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7CE61E83-EF91-D785-9566-588293F46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68" y="1510696"/>
            <a:ext cx="1156319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MobileNetV3 + FAM +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architecture - combining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lightweight mobile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backbone with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FairnessAttentionModule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Generalised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Mean Pooling for robust and fair lesion feature extraction.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Supports classification across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9 lesion classes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- the widest coverage among compared systems, spanning MEL, BCC, SCC, AK, BOD, NV, BKL, DF, and VASC.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Trained on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multi-source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combining HAM10000, ISIC 2019, and PAD-UFES-20 - integrating both dermoscopic and smartphone images for stronger real-world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generalisation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dual explainability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through Grad-CAM and SHAP, generating visual heatmaps and feature-level attributions to make every prediction interpretable and clinically trustworthy.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only system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verified skin-tone fairness (✓)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mobile deployment via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- enabling equitable, on-device inference directly from a smartphone without any cloud dependency.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CC004FB0-90F4-D6FD-9399-941B37EC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58988" y="-165100"/>
            <a:ext cx="10515601" cy="1325563"/>
          </a:xfrm>
        </p:spPr>
        <p:txBody>
          <a:bodyPr/>
          <a:lstStyle/>
          <a:p>
            <a:pPr algn="ctr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pic>
        <p:nvPicPr>
          <p:cNvPr id="10244" name="Picture 18">
            <a:extLst>
              <a:ext uri="{FF2B5EF4-FFF2-40B4-BE49-F238E27FC236}">
                <a16:creationId xmlns:a16="http://schemas.microsoft.com/office/drawing/2014/main" id="{7FA4BB8C-AFBD-1F3D-4839-C43B4245F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B90D7D6-D415-82D6-0D09-3D7ACAB8AFF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2B5470-759F-FE24-10FE-99489B8E590B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A47D71-6B41-3DBD-BF1A-E0C71D47A31C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0248" name="Title 6">
            <a:extLst>
              <a:ext uri="{FF2B5EF4-FFF2-40B4-BE49-F238E27FC236}">
                <a16:creationId xmlns:a16="http://schemas.microsoft.com/office/drawing/2014/main" id="{3DFCE489-71BC-3023-B04D-B46AF0E020C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0249" name="Picture 1">
            <a:extLst>
              <a:ext uri="{FF2B5EF4-FFF2-40B4-BE49-F238E27FC236}">
                <a16:creationId xmlns:a16="http://schemas.microsoft.com/office/drawing/2014/main" id="{9F362C98-9F7B-A146-9F4E-D6C7D8D3F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Picture 3">
            <a:extLst>
              <a:ext uri="{FF2B5EF4-FFF2-40B4-BE49-F238E27FC236}">
                <a16:creationId xmlns:a16="http://schemas.microsoft.com/office/drawing/2014/main" id="{2879FEDF-0E05-B046-B2B6-3C91DA7B4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3918628-F25F-4CC7-4E78-5BC17ED101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0037" y="1099879"/>
            <a:ext cx="1159192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Fairness-Aware: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Explicitly reduces bias across Fitzpatrick skin-tone groups I–VI, ensuring equitable diagnosis for darker skin tones historically underserved by AI models.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Grad-CAM and SHAP overlays provide visual justification for every prediction, building clinician trust and supporting informed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Widest Class Coverage: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Classifies 9 lesion types - more than any existing comparable system - reducing the risk of misdiagnosis from an incomplete classification scope.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&amp; Accessible: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INT8 deployment on Flutter enables on-device inference on any smartphone, eliminating the need for expensive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dermatoscopy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hardware or internet connectivity.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Multi-Source Robustness: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on HAM10000 + ISIC 2019 + PAD-UFES-20 combines dermoscopic and smartphone images, making the model robust to real-world image quality variations.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&amp; Efficient: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MobileNetV3-Large backbone with INT8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quantisation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fast inference within resource constraints of mid-range mobile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Clinically Aligned: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Per-class threshold calibration for high-risk malignant classes (MEL, BCC, SCC)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maximises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sensitivity where misdiagnosis carries the highest patient risk.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8">
            <a:extLst>
              <a:ext uri="{FF2B5EF4-FFF2-40B4-BE49-F238E27FC236}">
                <a16:creationId xmlns:a16="http://schemas.microsoft.com/office/drawing/2014/main" id="{86AF29E3-F2F9-9E65-E054-BEBDB445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8275" y="303213"/>
            <a:ext cx="10515600" cy="792162"/>
          </a:xfrm>
        </p:spPr>
        <p:txBody>
          <a:bodyPr/>
          <a:lstStyle/>
          <a:p>
            <a:pPr algn="ctr"/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altLang="en-US" sz="4800"/>
            </a:br>
            <a:endParaRPr lang="en-US" altLang="en-US" sz="4800"/>
          </a:p>
        </p:txBody>
      </p:sp>
      <p:pic>
        <p:nvPicPr>
          <p:cNvPr id="11267" name="Picture 18">
            <a:extLst>
              <a:ext uri="{FF2B5EF4-FFF2-40B4-BE49-F238E27FC236}">
                <a16:creationId xmlns:a16="http://schemas.microsoft.com/office/drawing/2014/main" id="{2469BE82-E2AC-D575-5569-C1E28AAFA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2CB7407-E3E1-47AE-F9C2-187A7AD353FF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A4253E-D6D6-F702-5CEE-A55077E9AC4D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C7FE93-4464-6787-BF68-DA04F3D02894}"/>
              </a:ext>
            </a:extLst>
          </p:cNvPr>
          <p:cNvSpPr txBox="1"/>
          <p:nvPr/>
        </p:nvSpPr>
        <p:spPr>
          <a:xfrm>
            <a:off x="9145588" y="6364288"/>
            <a:ext cx="2327275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1271" name="Title 6">
            <a:extLst>
              <a:ext uri="{FF2B5EF4-FFF2-40B4-BE49-F238E27FC236}">
                <a16:creationId xmlns:a16="http://schemas.microsoft.com/office/drawing/2014/main" id="{D19EBDF7-82D0-F043-F8E0-5301E70CF9AD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20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20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1295" name="Picture 1">
            <a:extLst>
              <a:ext uri="{FF2B5EF4-FFF2-40B4-BE49-F238E27FC236}">
                <a16:creationId xmlns:a16="http://schemas.microsoft.com/office/drawing/2014/main" id="{52E49597-3A9E-F6E6-A73D-FD94EDC5D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96" name="Picture 2">
            <a:extLst>
              <a:ext uri="{FF2B5EF4-FFF2-40B4-BE49-F238E27FC236}">
                <a16:creationId xmlns:a16="http://schemas.microsoft.com/office/drawing/2014/main" id="{DD0EEF28-3A58-FABC-8674-D6FB6A716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E3632A-F58D-FCBC-FC15-DAF573C17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793166"/>
              </p:ext>
            </p:extLst>
          </p:nvPr>
        </p:nvGraphicFramePr>
        <p:xfrm>
          <a:off x="447675" y="816094"/>
          <a:ext cx="10952706" cy="5424369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793821">
                  <a:extLst>
                    <a:ext uri="{9D8B030D-6E8A-4147-A177-3AD203B41FA5}">
                      <a16:colId xmlns:a16="http://schemas.microsoft.com/office/drawing/2014/main" val="3312440466"/>
                    </a:ext>
                  </a:extLst>
                </a:gridCol>
                <a:gridCol w="1798655">
                  <a:extLst>
                    <a:ext uri="{9D8B030D-6E8A-4147-A177-3AD203B41FA5}">
                      <a16:colId xmlns:a16="http://schemas.microsoft.com/office/drawing/2014/main" val="3674458776"/>
                    </a:ext>
                  </a:extLst>
                </a:gridCol>
                <a:gridCol w="2441749">
                  <a:extLst>
                    <a:ext uri="{9D8B030D-6E8A-4147-A177-3AD203B41FA5}">
                      <a16:colId xmlns:a16="http://schemas.microsoft.com/office/drawing/2014/main" val="1478062591"/>
                    </a:ext>
                  </a:extLst>
                </a:gridCol>
                <a:gridCol w="1768510">
                  <a:extLst>
                    <a:ext uri="{9D8B030D-6E8A-4147-A177-3AD203B41FA5}">
                      <a16:colId xmlns:a16="http://schemas.microsoft.com/office/drawing/2014/main" val="1905148880"/>
                    </a:ext>
                  </a:extLst>
                </a:gridCol>
                <a:gridCol w="1396721">
                  <a:extLst>
                    <a:ext uri="{9D8B030D-6E8A-4147-A177-3AD203B41FA5}">
                      <a16:colId xmlns:a16="http://schemas.microsoft.com/office/drawing/2014/main" val="899117153"/>
                    </a:ext>
                  </a:extLst>
                </a:gridCol>
                <a:gridCol w="2753250">
                  <a:extLst>
                    <a:ext uri="{9D8B030D-6E8A-4147-A177-3AD203B41FA5}">
                      <a16:colId xmlns:a16="http://schemas.microsoft.com/office/drawing/2014/main" val="860453187"/>
                    </a:ext>
                  </a:extLst>
                </a:gridCol>
              </a:tblGrid>
              <a:tr h="119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S.No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Author &amp; Year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Method Used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Dataset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Limitations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713666291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Esteva et al., 2017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Dermatologist-level classification of skin cancer with deep neural networks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GoogleNet Inception V3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ISIC + Stanford dataset (129,450 images)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Binary classification only; no fairness consideration; not mobile-deployable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1152091283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Tschandl</a:t>
                      </a:r>
                      <a:r>
                        <a:rPr lang="en-IN" sz="1100" dirty="0"/>
                        <a:t> et al., 2019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The HAM10000 dataset for skin lesion analysis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CNN (baseline)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HAM10000 (10,015 images)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 classes only; no explainability; dataset skewed toward lighter skin tones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508085905"/>
                  </a:ext>
                </a:extLst>
              </a:tr>
              <a:tr h="648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3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Codella et al., 2019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Skin lesion analysis toward melanoma detection (ISIC 2018 Challenge)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Ensemble CNNs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ISIC 2018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No fairness evaluation; no mobile deployment; limited to melanoma detection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2423876007"/>
                  </a:ext>
                </a:extLst>
              </a:tr>
              <a:tr h="648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4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Pacheco et al., 2020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PAD-UFES-20: A skin lesion dataset with smartphone images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SVM + CNN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PAD-UFES-20 (2,298 images)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 classes; no fairness or explainability module; smartphone domain not fully exploited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311154282"/>
                  </a:ext>
                </a:extLst>
              </a:tr>
              <a:tr h="471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Riahi &amp; Hammami, 2022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Deep learning for skin lesion classification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ResNet50 + VGG16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HAM10000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 fairness; no explainability; heavy model not suitable for mobile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26452917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Kharazmi et al., 2022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Automated skin lesion segmentation and classification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U-Net + EfficientNet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ISIC 2019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Segmentation-focused; no skin-tone fairness; no mobile deployment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4057149919"/>
                  </a:ext>
                </a:extLst>
              </a:tr>
              <a:tr h="471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7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Daneshjou et al., 2022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Disparities in dermatology AI performance on skin images of darker tones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ResNet + EfficientNet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DDI Stanford (656 images)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Identifies bias but proposes no architectural fix; no explainability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075311679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Yan et al., 2023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Skin lesion recognition using attention-based CNN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Attention CNN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HAM10000 + ISIC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 fairness regularisation; attention used for accuracy only, not fairness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2674701994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9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Khan et al., 2024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SNC_Net</a:t>
                      </a:r>
                      <a:r>
                        <a:rPr lang="en-US" sz="1100" dirty="0"/>
                        <a:t>: Skin lesion classification using handcrafted and deep features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CNN + Handcrafted Features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ISIC 2019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8 classes; no fairness; no explainability; not mobile-deployable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15609191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8">
            <a:extLst>
              <a:ext uri="{FF2B5EF4-FFF2-40B4-BE49-F238E27FC236}">
                <a16:creationId xmlns:a16="http://schemas.microsoft.com/office/drawing/2014/main" id="{EE7E9D70-1167-0526-414E-A1EFA2A87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713" y="25400"/>
            <a:ext cx="5126037" cy="1254125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altLang="en-US" sz="3600" b="1"/>
            </a:br>
            <a:endParaRPr lang="en-US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18">
            <a:extLst>
              <a:ext uri="{FF2B5EF4-FFF2-40B4-BE49-F238E27FC236}">
                <a16:creationId xmlns:a16="http://schemas.microsoft.com/office/drawing/2014/main" id="{8636A1E7-1DDD-8484-72D8-1580EED52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AF164B-9A51-33D9-9BF0-D73D4885CE66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42B1D7-C2BB-CF52-2303-3CD1D9B9E8C4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9C21E5-1D68-EA13-6EE0-AD0FF555B612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2295" name="Title 6">
            <a:extLst>
              <a:ext uri="{FF2B5EF4-FFF2-40B4-BE49-F238E27FC236}">
                <a16:creationId xmlns:a16="http://schemas.microsoft.com/office/drawing/2014/main" id="{8F07AE4F-A4CA-F4AE-5FFF-E54EF4CA166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2319" name="Picture 1">
            <a:extLst>
              <a:ext uri="{FF2B5EF4-FFF2-40B4-BE49-F238E27FC236}">
                <a16:creationId xmlns:a16="http://schemas.microsoft.com/office/drawing/2014/main" id="{67BEF005-C011-CB55-E4FF-6D958C41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0" name="Picture 3">
            <a:extLst>
              <a:ext uri="{FF2B5EF4-FFF2-40B4-BE49-F238E27FC236}">
                <a16:creationId xmlns:a16="http://schemas.microsoft.com/office/drawing/2014/main" id="{AC34F3E0-74FC-90C5-2374-92F93E1A0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11BCF5-2C06-617A-9605-31D45953EDA5}"/>
              </a:ext>
            </a:extLst>
          </p:cNvPr>
          <p:cNvSpPr txBox="1"/>
          <p:nvPr/>
        </p:nvSpPr>
        <p:spPr>
          <a:xfrm>
            <a:off x="771569" y="1379538"/>
            <a:ext cx="104122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Research Gap Identified: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No existing system simultaneously addresses </a:t>
            </a:r>
            <a:r>
              <a:rPr lang="en-US" sz="2400" b="1" dirty="0"/>
              <a:t>fairness across skin tones</a:t>
            </a:r>
            <a:r>
              <a:rPr lang="en-US" sz="2400" dirty="0"/>
              <a:t>, </a:t>
            </a:r>
            <a:r>
              <a:rPr lang="en-US" sz="2400" b="1" dirty="0"/>
              <a:t>multi-class classification (9 classes)</a:t>
            </a:r>
            <a:r>
              <a:rPr lang="en-US" sz="2400" dirty="0"/>
              <a:t>, </a:t>
            </a:r>
            <a:r>
              <a:rPr lang="en-US" sz="2400" b="1" dirty="0"/>
              <a:t>dual explainability (Grad-CAM + SHAP)</a:t>
            </a:r>
            <a:r>
              <a:rPr lang="en-US" sz="2400" dirty="0"/>
              <a:t>, and </a:t>
            </a:r>
            <a:r>
              <a:rPr lang="en-US" sz="2400" b="1" dirty="0"/>
              <a:t>mobile deployment (</a:t>
            </a:r>
            <a:r>
              <a:rPr lang="en-US" sz="2400" b="1" dirty="0" err="1"/>
              <a:t>TFLite</a:t>
            </a:r>
            <a:r>
              <a:rPr lang="en-US" sz="2400" b="1" dirty="0"/>
              <a:t>)</a:t>
            </a:r>
            <a:r>
              <a:rPr lang="en-US" sz="2400" dirty="0"/>
              <a:t> within a single unified framework, the gap DermaLens is designed to fill.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8">
            <a:extLst>
              <a:ext uri="{FF2B5EF4-FFF2-40B4-BE49-F238E27FC236}">
                <a16:creationId xmlns:a16="http://schemas.microsoft.com/office/drawing/2014/main" id="{CFBD827A-780D-02BA-45A8-9C92302AE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46038"/>
            <a:ext cx="8513762" cy="862012"/>
          </a:xfrm>
        </p:spPr>
        <p:txBody>
          <a:bodyPr/>
          <a:lstStyle/>
          <a:p>
            <a:pPr algn="l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Specification</a:t>
            </a:r>
            <a:endParaRPr lang="en-US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3" name="Picture 18">
            <a:extLst>
              <a:ext uri="{FF2B5EF4-FFF2-40B4-BE49-F238E27FC236}">
                <a16:creationId xmlns:a16="http://schemas.microsoft.com/office/drawing/2014/main" id="{5FDE1DE6-CF08-8246-5C86-CEBBC3524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18AE7C0-40C7-151B-44BA-F32F669476E8}"/>
              </a:ext>
            </a:extLst>
          </p:cNvPr>
          <p:cNvSpPr/>
          <p:nvPr/>
        </p:nvSpPr>
        <p:spPr>
          <a:xfrm>
            <a:off x="1982788" y="985838"/>
            <a:ext cx="900112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D772FA-58CE-91FC-9BA9-1D75887BF834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49339A-1B84-2D34-F974-223B24D4731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5367" name="Title 6">
            <a:extLst>
              <a:ext uri="{FF2B5EF4-FFF2-40B4-BE49-F238E27FC236}">
                <a16:creationId xmlns:a16="http://schemas.microsoft.com/office/drawing/2014/main" id="{364574A6-1C9F-DDD4-2885-C22D8C66AC72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9E9B4-5F30-8EC0-CD54-87F96BFD27C8}"/>
              </a:ext>
            </a:extLst>
          </p:cNvPr>
          <p:cNvSpPr txBox="1"/>
          <p:nvPr/>
        </p:nvSpPr>
        <p:spPr>
          <a:xfrm>
            <a:off x="501650" y="1127125"/>
            <a:ext cx="1138555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9" name="Picture 1">
            <a:extLst>
              <a:ext uri="{FF2B5EF4-FFF2-40B4-BE49-F238E27FC236}">
                <a16:creationId xmlns:a16="http://schemas.microsoft.com/office/drawing/2014/main" id="{7F6EA5BF-084B-EE33-A032-E5F12D754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3">
            <a:extLst>
              <a:ext uri="{FF2B5EF4-FFF2-40B4-BE49-F238E27FC236}">
                <a16:creationId xmlns:a16="http://schemas.microsoft.com/office/drawing/2014/main" id="{5E837599-6900-ED29-E123-204FF8695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01995F-D2FE-2D79-686A-32D94EA05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370443"/>
              </p:ext>
            </p:extLst>
          </p:nvPr>
        </p:nvGraphicFramePr>
        <p:xfrm>
          <a:off x="724405" y="1978005"/>
          <a:ext cx="10515600" cy="3108960"/>
        </p:xfrm>
        <a:graphic>
          <a:graphicData uri="http://schemas.openxmlformats.org/drawingml/2006/table">
            <a:tbl>
              <a:tblPr/>
              <a:tblGrid>
                <a:gridCol w="2531261">
                  <a:extLst>
                    <a:ext uri="{9D8B030D-6E8A-4147-A177-3AD203B41FA5}">
                      <a16:colId xmlns:a16="http://schemas.microsoft.com/office/drawing/2014/main" val="2985570707"/>
                    </a:ext>
                  </a:extLst>
                </a:gridCol>
                <a:gridCol w="4479139">
                  <a:extLst>
                    <a:ext uri="{9D8B030D-6E8A-4147-A177-3AD203B41FA5}">
                      <a16:colId xmlns:a16="http://schemas.microsoft.com/office/drawing/2014/main" val="5933682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87397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Current (Development)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Recommended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4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NVIDIA RTX 3050 Laptop 95W, 6GB VRAM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NVIDIA RTX 4060 / A100, 16GB+ VRAM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110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Intel Core i5/i7 12th 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Intel Core i9 / AMD Ryzen 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485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426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512 GB SSD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TB NVMe SSD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88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 Device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Mid-range Android (TFLite inference)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Any Android/iOS smartphone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016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Camera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smartphone camera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Dermatoscope</a:t>
                      </a:r>
                      <a:r>
                        <a:rPr lang="en-IN" dirty="0"/>
                        <a:t> attachment (optional)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2457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F608F22-9B58-78AE-A467-93DD17803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43590"/>
            <a:ext cx="283923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Requirements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289D-3828-9AE1-E533-4956AE54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8">
            <a:extLst>
              <a:ext uri="{FF2B5EF4-FFF2-40B4-BE49-F238E27FC236}">
                <a16:creationId xmlns:a16="http://schemas.microsoft.com/office/drawing/2014/main" id="{156ACC95-8863-270E-E9A4-F447C497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46038"/>
            <a:ext cx="8513762" cy="862012"/>
          </a:xfrm>
        </p:spPr>
        <p:txBody>
          <a:bodyPr/>
          <a:lstStyle/>
          <a:p>
            <a:pPr algn="l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Specification</a:t>
            </a:r>
            <a:endParaRPr lang="en-US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3" name="Picture 18">
            <a:extLst>
              <a:ext uri="{FF2B5EF4-FFF2-40B4-BE49-F238E27FC236}">
                <a16:creationId xmlns:a16="http://schemas.microsoft.com/office/drawing/2014/main" id="{BF3A7670-E146-A29D-153A-0100EF77E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D4012DA-D1A5-A33F-ED20-B9E72F28E01A}"/>
              </a:ext>
            </a:extLst>
          </p:cNvPr>
          <p:cNvSpPr/>
          <p:nvPr/>
        </p:nvSpPr>
        <p:spPr>
          <a:xfrm>
            <a:off x="1982788" y="985838"/>
            <a:ext cx="900112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475E59-C445-23A5-3AAE-BBF92EA79827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452C44-A964-77B4-F896-F8EAC05FDBF8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5367" name="Title 6">
            <a:extLst>
              <a:ext uri="{FF2B5EF4-FFF2-40B4-BE49-F238E27FC236}">
                <a16:creationId xmlns:a16="http://schemas.microsoft.com/office/drawing/2014/main" id="{0BE414CA-1E40-BFAA-B473-21F2C05F3453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5369" name="Picture 1">
            <a:extLst>
              <a:ext uri="{FF2B5EF4-FFF2-40B4-BE49-F238E27FC236}">
                <a16:creationId xmlns:a16="http://schemas.microsoft.com/office/drawing/2014/main" id="{3520E13C-1ED5-AF3A-59D1-0DAD63FDE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3">
            <a:extLst>
              <a:ext uri="{FF2B5EF4-FFF2-40B4-BE49-F238E27FC236}">
                <a16:creationId xmlns:a16="http://schemas.microsoft.com/office/drawing/2014/main" id="{A65E781F-4824-6B26-FB93-F1F90CD07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61785-7993-27F6-F7B8-55BDDBFB52A1}"/>
              </a:ext>
            </a:extLst>
          </p:cNvPr>
          <p:cNvSpPr txBox="1"/>
          <p:nvPr/>
        </p:nvSpPr>
        <p:spPr>
          <a:xfrm>
            <a:off x="447675" y="1122462"/>
            <a:ext cx="1028023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Software Requirements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OS:</a:t>
            </a:r>
            <a:r>
              <a:rPr lang="en-IN" dirty="0"/>
              <a:t> Windows 11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Language:</a:t>
            </a:r>
            <a:r>
              <a:rPr lang="en-IN" dirty="0"/>
              <a:t> Python 3.8+, Dart (Flutter)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Deep Learning:</a:t>
            </a:r>
            <a:r>
              <a:rPr lang="en-IN" dirty="0"/>
              <a:t> PyTorch, </a:t>
            </a:r>
            <a:r>
              <a:rPr lang="en-IN" dirty="0" err="1"/>
              <a:t>TorchVision</a:t>
            </a:r>
            <a:r>
              <a:rPr lang="en-IN" dirty="0"/>
              <a:t>, </a:t>
            </a:r>
            <a:r>
              <a:rPr lang="en-IN" dirty="0" err="1"/>
              <a:t>TFLite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Fairness &amp; XAI:</a:t>
            </a:r>
            <a:r>
              <a:rPr lang="en-IN" dirty="0"/>
              <a:t> SHAP, Grad-CAM, scikit-learn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 Processing:</a:t>
            </a:r>
            <a:r>
              <a:rPr lang="en-IN" dirty="0"/>
              <a:t> NumPy, Pandas, OpenCV, </a:t>
            </a:r>
            <a:r>
              <a:rPr lang="en-IN" dirty="0" err="1"/>
              <a:t>Albumentations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Training Utilities:</a:t>
            </a:r>
            <a:r>
              <a:rPr lang="en-IN" dirty="0"/>
              <a:t> AMP (fp16), Weights &amp; Biases (logging)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Mobile:</a:t>
            </a:r>
            <a:r>
              <a:rPr lang="en-IN" dirty="0"/>
              <a:t> Flutter SDK, </a:t>
            </a:r>
            <a:r>
              <a:rPr lang="en-IN" dirty="0" err="1"/>
              <a:t>TFLite</a:t>
            </a:r>
            <a:r>
              <a:rPr lang="en-IN" dirty="0"/>
              <a:t> Flutter plugin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IDE:</a:t>
            </a:r>
            <a:r>
              <a:rPr lang="en-IN" dirty="0"/>
              <a:t> VS Code, </a:t>
            </a:r>
            <a:r>
              <a:rPr lang="en-IN" dirty="0" err="1"/>
              <a:t>Jupyter</a:t>
            </a:r>
            <a:r>
              <a:rPr lang="en-IN" dirty="0"/>
              <a:t> Notebook, Google </a:t>
            </a:r>
            <a:r>
              <a:rPr lang="en-IN" dirty="0" err="1"/>
              <a:t>Colab</a:t>
            </a:r>
            <a:r>
              <a:rPr lang="en-IN" dirty="0"/>
              <a:t> (backup)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Version Control:</a:t>
            </a:r>
            <a:r>
              <a:rPr lang="en-IN" dirty="0"/>
              <a:t> Git, GitHub</a:t>
            </a:r>
          </a:p>
        </p:txBody>
      </p:sp>
    </p:spTree>
    <p:extLst>
      <p:ext uri="{BB962C8B-B14F-4D97-AF65-F5344CB8AC3E}">
        <p14:creationId xmlns:p14="http://schemas.microsoft.com/office/powerpoint/2010/main" val="572973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8">
            <a:extLst>
              <a:ext uri="{FF2B5EF4-FFF2-40B4-BE49-F238E27FC236}">
                <a16:creationId xmlns:a16="http://schemas.microsoft.com/office/drawing/2014/main" id="{C08049DE-8D6D-B04B-4B57-ADAE3361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18276" y="-154615"/>
            <a:ext cx="10515601" cy="1325563"/>
          </a:xfrm>
        </p:spPr>
        <p:txBody>
          <a:bodyPr/>
          <a:lstStyle/>
          <a:p>
            <a:pPr algn="ctr"/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AF6CBE-4733-240A-9D00-FB28B62C42BF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F0169F-8E73-843F-BE49-068A1526154A}"/>
              </a:ext>
            </a:extLst>
          </p:cNvPr>
          <p:cNvSpPr/>
          <p:nvPr/>
        </p:nvSpPr>
        <p:spPr>
          <a:xfrm>
            <a:off x="0" y="6356836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F61342-0381-1811-79A5-A0F81E1EB6C0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7414" name="Title 6">
            <a:extLst>
              <a:ext uri="{FF2B5EF4-FFF2-40B4-BE49-F238E27FC236}">
                <a16:creationId xmlns:a16="http://schemas.microsoft.com/office/drawing/2014/main" id="{576C600C-1A02-C5CE-2F29-12700717BD38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7415" name="Picture 1">
            <a:extLst>
              <a:ext uri="{FF2B5EF4-FFF2-40B4-BE49-F238E27FC236}">
                <a16:creationId xmlns:a16="http://schemas.microsoft.com/office/drawing/2014/main" id="{6FA1745B-A5C1-B842-4729-41FCBFEC3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3">
            <a:extLst>
              <a:ext uri="{FF2B5EF4-FFF2-40B4-BE49-F238E27FC236}">
                <a16:creationId xmlns:a16="http://schemas.microsoft.com/office/drawing/2014/main" id="{6CFCB5D2-08A5-4C86-ECD9-3EA9AFA98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BDB313-8EA4-A224-6846-CD120F0CB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520" y="0"/>
            <a:ext cx="4239916" cy="63598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8">
            <a:extLst>
              <a:ext uri="{FF2B5EF4-FFF2-40B4-BE49-F238E27FC236}">
                <a16:creationId xmlns:a16="http://schemas.microsoft.com/office/drawing/2014/main" id="{0A2E3166-40A5-8F98-B807-E30C63F4B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46038"/>
            <a:ext cx="8513762" cy="862012"/>
          </a:xfrm>
        </p:spPr>
        <p:txBody>
          <a:bodyPr/>
          <a:lstStyle/>
          <a:p>
            <a:pPr algn="l"/>
            <a:r>
              <a:rPr lang="en-I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– Architecture Overview</a:t>
            </a:r>
            <a:endParaRPr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7" name="Picture 18">
            <a:extLst>
              <a:ext uri="{FF2B5EF4-FFF2-40B4-BE49-F238E27FC236}">
                <a16:creationId xmlns:a16="http://schemas.microsoft.com/office/drawing/2014/main" id="{0D4DB9DA-1C9F-C4DE-F35A-31140A340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9FBFF06-4F81-47A9-8AB4-B46FE19F99D3}"/>
              </a:ext>
            </a:extLst>
          </p:cNvPr>
          <p:cNvSpPr/>
          <p:nvPr/>
        </p:nvSpPr>
        <p:spPr>
          <a:xfrm>
            <a:off x="1982788" y="985838"/>
            <a:ext cx="900112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1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625D94-D3CB-D7AD-861E-8753FBF6F8A5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1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32008F-3624-AB3A-5DD3-14A8B2DE26B9}"/>
              </a:ext>
            </a:extLst>
          </p:cNvPr>
          <p:cNvSpPr txBox="1"/>
          <p:nvPr/>
        </p:nvSpPr>
        <p:spPr>
          <a:xfrm>
            <a:off x="9145588" y="6364288"/>
            <a:ext cx="232727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6391" name="Title 6">
            <a:extLst>
              <a:ext uri="{FF2B5EF4-FFF2-40B4-BE49-F238E27FC236}">
                <a16:creationId xmlns:a16="http://schemas.microsoft.com/office/drawing/2014/main" id="{724B9867-93E5-E271-0B0F-7004979C1E59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6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6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75B36-44E7-071A-0FEF-7A0974B61E28}"/>
              </a:ext>
            </a:extLst>
          </p:cNvPr>
          <p:cNvSpPr txBox="1"/>
          <p:nvPr/>
        </p:nvSpPr>
        <p:spPr>
          <a:xfrm>
            <a:off x="660400" y="1467316"/>
            <a:ext cx="1051242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Layer 1 - Input:</a:t>
            </a:r>
            <a:r>
              <a:rPr lang="en-IN" sz="2000" dirty="0"/>
              <a:t> Raw dermoscopic or smartphone image fed into the pipeline from any of the three datasets.</a:t>
            </a:r>
          </a:p>
          <a:p>
            <a:r>
              <a:rPr lang="en-IN" sz="2000" b="1" dirty="0"/>
              <a:t>Layer 2 - Preprocessing:</a:t>
            </a:r>
            <a:r>
              <a:rPr lang="en-IN" sz="2000" dirty="0"/>
              <a:t> Resize, augmentation, normalisation, and Fitzpatrick skin-tone estimation before training.</a:t>
            </a:r>
          </a:p>
          <a:p>
            <a:r>
              <a:rPr lang="en-IN" sz="2000" b="1" dirty="0"/>
              <a:t>Layer 3 - </a:t>
            </a:r>
            <a:r>
              <a:rPr lang="en-IN" sz="2000" b="1" dirty="0" err="1"/>
              <a:t>FairDermNet</a:t>
            </a:r>
            <a:r>
              <a:rPr lang="en-IN" sz="2000" b="1" dirty="0"/>
              <a:t>:</a:t>
            </a:r>
            <a:r>
              <a:rPr lang="en-IN" sz="2000" dirty="0"/>
              <a:t> The core backbone - MobileNetV3-Large extracts features → FAM reweights for skin-tone fairness → </a:t>
            </a:r>
            <a:r>
              <a:rPr lang="en-IN" sz="2000" dirty="0" err="1"/>
              <a:t>GeM</a:t>
            </a:r>
            <a:r>
              <a:rPr lang="en-IN" sz="2000" dirty="0"/>
              <a:t> pools richer descriptors → trained with composite fairness loss.</a:t>
            </a:r>
          </a:p>
          <a:p>
            <a:r>
              <a:rPr lang="en-IN" sz="2000" b="1" dirty="0"/>
              <a:t>Layer 4 - Classification Head:</a:t>
            </a:r>
            <a:r>
              <a:rPr lang="en-IN" sz="2000" dirty="0"/>
              <a:t> Outputs probabilities across 9 lesion classes with per-class threshold calibration.</a:t>
            </a:r>
          </a:p>
          <a:p>
            <a:r>
              <a:rPr lang="en-IN" sz="2000" b="1" dirty="0"/>
              <a:t>Layer 5 - Output Split:</a:t>
            </a:r>
            <a:endParaRPr lang="en-IN" sz="2000" dirty="0"/>
          </a:p>
          <a:p>
            <a:r>
              <a:rPr lang="en-IN" sz="2000" dirty="0"/>
              <a:t>Explainability branch → Grad-CAM + SHAP visual heatmaps</a:t>
            </a:r>
          </a:p>
          <a:p>
            <a:r>
              <a:rPr lang="en-IN" sz="2000" dirty="0"/>
              <a:t>Export branch → </a:t>
            </a:r>
            <a:r>
              <a:rPr lang="en-IN" sz="2000" dirty="0" err="1"/>
              <a:t>TFLite</a:t>
            </a:r>
            <a:r>
              <a:rPr lang="en-IN" sz="2000" dirty="0"/>
              <a:t> INT8 quantised model</a:t>
            </a:r>
          </a:p>
          <a:p>
            <a:r>
              <a:rPr lang="en-IN" sz="2000" b="1" dirty="0"/>
              <a:t>Layer 6 - Flutter App:</a:t>
            </a:r>
            <a:r>
              <a:rPr lang="en-IN" sz="2000" dirty="0"/>
              <a:t> Final deployment - on-device inference with class label, confidence score, and Grad-CAM overlay displayed to the user.</a:t>
            </a:r>
          </a:p>
        </p:txBody>
      </p:sp>
      <p:pic>
        <p:nvPicPr>
          <p:cNvPr id="16393" name="Picture 1">
            <a:extLst>
              <a:ext uri="{FF2B5EF4-FFF2-40B4-BE49-F238E27FC236}">
                <a16:creationId xmlns:a16="http://schemas.microsoft.com/office/drawing/2014/main" id="{9EE1D12F-566E-E244-6CEC-CB7DE4D3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4" name="Picture 3">
            <a:extLst>
              <a:ext uri="{FF2B5EF4-FFF2-40B4-BE49-F238E27FC236}">
                <a16:creationId xmlns:a16="http://schemas.microsoft.com/office/drawing/2014/main" id="{242E34E6-7C2B-4FE9-A7D4-1A5ED80A5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36F0-EC6F-A118-1B33-1A384EF9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051E50-12AB-D197-83BA-75E0DDCD9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Recap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2A241EF2-E022-4F66-9396-01F55CAF1FC6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87684450-5332-4835-C828-9F44EEC44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3328BF-EC0F-67C3-43A5-68B090A0058A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6C4BB2-2A21-9A7C-768D-B4A822426CB0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BD60CA-ED21-7E50-6446-07B3FC3333A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78349535-B62D-0909-B537-61A7184B93E1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68D2E695-80F6-F353-7474-9C95D280B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1E63C575-8F29-16D8-0DD2-EE7582E62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48533E-3EFA-7CD0-F30A-AE8BBDD47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1089859"/>
            <a:ext cx="1051245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Problem Statement</a:t>
            </a:r>
            <a:r>
              <a:rPr lang="en-IN" dirty="0"/>
              <a:t> Existing skin cancer AI tools are biased against darker skin tones, lack explainability, and are inaccessible without specialist hardware.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Proposed Solution</a:t>
            </a:r>
          </a:p>
          <a:p>
            <a:endParaRPr lang="en-IN" dirty="0"/>
          </a:p>
          <a:p>
            <a:r>
              <a:rPr lang="en-IN" dirty="0" err="1"/>
              <a:t>FairDermNet</a:t>
            </a:r>
            <a:r>
              <a:rPr lang="en-IN" dirty="0"/>
              <a:t> (MobileNetV3 + FAM + </a:t>
            </a:r>
            <a:r>
              <a:rPr lang="en-IN" dirty="0" err="1"/>
              <a:t>GeM</a:t>
            </a:r>
            <a:r>
              <a:rPr lang="en-IN" dirty="0"/>
              <a:t>) trained with composite fairness loss across 9 lesion classes on ~37k multi-source images.</a:t>
            </a:r>
          </a:p>
          <a:p>
            <a:endParaRPr lang="en-IN" dirty="0"/>
          </a:p>
          <a:p>
            <a:r>
              <a:rPr lang="en-IN" dirty="0" err="1"/>
              <a:t>TFLite</a:t>
            </a:r>
            <a:r>
              <a:rPr lang="en-IN" dirty="0"/>
              <a:t> INT8 export deployed via Flutter app with Grad-CAM + SHAP explainability for on-device, accessible diagnosis.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BCE5F54-C383-BD52-6409-03A82B57C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1285631"/>
              </p:ext>
            </p:extLst>
          </p:nvPr>
        </p:nvGraphicFramePr>
        <p:xfrm>
          <a:off x="839773" y="4268074"/>
          <a:ext cx="10512454" cy="1395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520512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D53D-9847-B8F4-7D4C-16A7F70B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1435527-4A56-4CC6-0935-22B001DA9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Overview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B099DC8A-DBED-ED8D-9028-FE36C02CE3EC}"/>
              </a:ext>
            </a:extLst>
          </p:cNvPr>
          <p:cNvSpPr txBox="1">
            <a:spLocks/>
          </p:cNvSpPr>
          <p:nvPr/>
        </p:nvSpPr>
        <p:spPr bwMode="auto">
          <a:xfrm>
            <a:off x="0" y="347662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B76B6C0C-696F-F4E9-751B-8752D4DF1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C3B0F77-BB0F-A054-04E1-5386F84B9C44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BBE62A-B25B-EAC4-9E97-0386EAFA7186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445128-9BFA-A5AC-2EF0-CE218B7FD1D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753DAFED-8665-002C-984A-25C08834724B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2CE92D14-6741-5B31-C4F7-A0331FB5A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17197257-E169-1B48-5C52-48C29DAB0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12C0B7-D2C9-35C6-B844-908CCED6BE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6191" y="819151"/>
            <a:ext cx="6339617" cy="543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50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FE05-FC7E-6BE1-D5B9-4C6B61B3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6966ECD-773A-82A3-7E18-D189F8C5C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&amp; Mobile Interfaces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7F194254-929D-7304-53D6-B893988E3FD9}"/>
              </a:ext>
            </a:extLst>
          </p:cNvPr>
          <p:cNvSpPr txBox="1">
            <a:spLocks/>
          </p:cNvSpPr>
          <p:nvPr/>
        </p:nvSpPr>
        <p:spPr bwMode="auto">
          <a:xfrm>
            <a:off x="103117" y="1243012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DC15BC45-2011-B66E-EFB5-DB906142B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957C224-0925-D11E-61C5-7E5E15C0945B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AB9E57-EF7E-EC13-F20C-58AD5BCF9665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116B49-5D08-E6ED-BD21-ACAA3D1616FE}"/>
              </a:ext>
            </a:extLst>
          </p:cNvPr>
          <p:cNvSpPr txBox="1"/>
          <p:nvPr/>
        </p:nvSpPr>
        <p:spPr>
          <a:xfrm>
            <a:off x="9145588" y="6364288"/>
            <a:ext cx="2327275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082566A6-35D6-FCC0-C407-0D9B579907BF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24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24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4035D19B-4455-9F6A-FD94-1CE09702A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BC8921D0-50D0-B4FC-C3CE-72B853D44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6032FB3-2910-18F6-1C04-51F89FD41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978" y="1574799"/>
            <a:ext cx="875211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Flutter mobile application where the user captures or uploads a skin lesion image, triggering on-device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inference that instantly displays the predicted lesion class, confidence score, and Grad-CAM heatmap overlay highlighting the diagnosed region.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clean result screen presents the top predicted class with probability distribution across all 9 lesion types,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colour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-coded risk indicator (malignant / benign), and a brief explainability summary - making the output interpretable for both patients and clinicians.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083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FFA9-3E2B-4632-9DE5-844C238C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C0304EB-14D2-4039-82A1-2C247A37C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Strategy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C9A280AF-3269-2821-80C4-4A9F235F795E}"/>
              </a:ext>
            </a:extLst>
          </p:cNvPr>
          <p:cNvSpPr txBox="1">
            <a:spLocks/>
          </p:cNvSpPr>
          <p:nvPr/>
        </p:nvSpPr>
        <p:spPr bwMode="auto">
          <a:xfrm>
            <a:off x="447675" y="1305080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2DD8B7B6-1599-6303-A329-C922A297E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5CD309A-F905-D6D6-B7BB-AE0E2CE11031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93B34E-FE1B-C786-E4C4-9D506E3A7ECD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FB6DDA-A49A-9D5A-2872-C86C289C111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D1BFB815-2FCC-A3F2-BBC4-EDF18ED2E7BC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2A4E9F31-4462-565D-5696-FECF14F32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1E44BF71-9686-B153-711A-B9997F9E2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1BE067C-2E1F-BB37-9926-F51ACEB0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715" y="1258328"/>
            <a:ext cx="9145588" cy="4565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 Testing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module (preprocessing, FAM,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pooling, fairness loss,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export) tested independently to validate correct input-output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Testing: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on held-out test split (80-10-10) using per-class accuracy, AUC, precision, recall, and F1-score across all 9 lesion classes. </a:t>
            </a:r>
          </a:p>
          <a:p>
            <a:pPr lvl="0">
              <a:lnSpc>
                <a:spcPct val="150000"/>
              </a:lnSpc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 Testing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altLang="en-US" b="1" dirty="0"/>
              <a:t>:</a:t>
            </a:r>
            <a:r>
              <a:rPr lang="en-US" altLang="en-US" dirty="0"/>
              <a:t> DDI Stanford dataset (656 images) used exclusively to audit model performance across Fitzpatrick skin-tone groups 12 / 34 / 56, measuring equalized odds and demographic parity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 Testing: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Grad-CAM heatmaps visually verified by domain knowledge - highlighted regions must align with the actual lesion area, not background skin.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Testing: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tested on mid-range Android device for inference latency (target ≤500ms), memory usage, and output consistency against the PyTorch baseline.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61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80B7-3AE0-2554-499A-34510B974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EE3E5E4-E79F-6DA9-7A79-C09A1153E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Observations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229852E5-F86D-C7D1-AE8B-470A43AFE5F8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AE8FC147-4C2E-22C4-6EE5-4000A787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E12175-1D26-073D-E740-15E89D16724C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637917-BD07-117E-B2E2-D6DD8A0BA7E3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B3744B-94D7-C6FD-5215-3B35E0D5DBC3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D5F367A8-6B89-9095-8D37-25E6A64BBC9B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BC58378A-4C52-7190-44AB-317E3880F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1BAD35AD-0619-D634-FBF0-2FDA6AA03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4699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14C4-98A7-D9FF-5714-5571DE16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5B1493D-D1A4-7F1F-CCE9-FA9EE8953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Privacy Analysis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D5D3815E-7AAE-CFEA-8AAA-BF64518C5351}"/>
              </a:ext>
            </a:extLst>
          </p:cNvPr>
          <p:cNvSpPr txBox="1">
            <a:spLocks/>
          </p:cNvSpPr>
          <p:nvPr/>
        </p:nvSpPr>
        <p:spPr bwMode="auto">
          <a:xfrm>
            <a:off x="231775" y="1267052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AA8B62AE-55DA-8E5D-2ADF-BDA22678B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F8ECA40-5FEB-EC4B-BD62-E9956099299C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F5530-5D28-EBB9-92DA-19EFB20B8514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D4187D-A4F0-47BE-1E48-294FC3DCFBE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17DE8F5E-FF89-2B62-7FC1-79EF42007FC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A28FBC42-CC92-7E3D-3A9D-7059EE8A8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2DEF163C-3190-FF64-787B-A89D23C2F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EF1A918-7B9B-6C78-4B33-30DEE5DC3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7" y="2046456"/>
            <a:ext cx="875211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On-Device Inference: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processing happens locally via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no patient image is transmitted to any server, eliminating data interception risk entirely.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Data Storage: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 does not store, log, or cache any captured skin images post-inference, ensuring zero persistent patient data on the device.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Security: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is INT8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quantised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bundled within the app, preventing direct weight extraction or reverse engineering of training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Ethical Safeguard: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 displays a clear disclaimer that results are preliminary and not a substitute for professional clinical diagnosis, preventing misuse as a self-diagnosis tool. </a:t>
            </a:r>
          </a:p>
        </p:txBody>
      </p:sp>
    </p:spTree>
    <p:extLst>
      <p:ext uri="{BB962C8B-B14F-4D97-AF65-F5344CB8AC3E}">
        <p14:creationId xmlns:p14="http://schemas.microsoft.com/office/powerpoint/2010/main" val="3991707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9FFA1-A7E1-2A25-6D10-8B29D85D6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A8EDCE-1AAB-5EFA-8DF4-115F4C3AD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Enhancements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D8A04B78-4DEE-2241-E822-6B948DBCF048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1CCA92F9-2CC9-D928-7172-489121E8B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53A99FF-0437-3063-5751-E244019FD96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C1BA06-A275-179F-E429-ED2ACDC6EE68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BE9F72-9F10-9983-4B45-AE20A11E5695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548CB68D-C56A-FDAE-E67E-69AC1F4FC4F9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EEE4F340-2D06-28EC-8AA5-8064036E5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DD8D0F0F-56B4-FAC9-A2B6-DE14BDE11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12A0851-E2F8-2042-8895-C7BA636F3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1612882"/>
            <a:ext cx="1048493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Expanded Dataset: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Incorporate larger and more diverse skin-tone datasets to further reduce Fitzpatrick IV–VI performance gaps.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Segmentation Module: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lesion segmentation (U-Net based) alongside classification for more precise region delineation.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iOS Deployment: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Extend Flutter app to iOS with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conversion for broader accessibility.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Learning: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federated learning to allow the model to improve from new clinical data without compromising patient privacy.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Dermatoscope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 clip-on smartphone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dermatoscope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attachments for higher image quality in clinical settings. </a:t>
            </a:r>
          </a:p>
        </p:txBody>
      </p:sp>
    </p:spTree>
    <p:extLst>
      <p:ext uri="{BB962C8B-B14F-4D97-AF65-F5344CB8AC3E}">
        <p14:creationId xmlns:p14="http://schemas.microsoft.com/office/powerpoint/2010/main" val="1368791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69B54-CDC4-8F0E-4CBD-6B5BBC50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FF8F713-BB7D-18DD-215A-734704539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E79F4AF2-9508-CE0D-C97B-520370307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08864E6-9D60-6F2E-C1DF-6F99610C27FF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C74CA8-94FB-990C-78CE-309D9CA54C2D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69538-2A86-6D01-3F38-DDD58AA91FF6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B6D44339-060C-E104-FC5B-1537F4DAE4C1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0275C52A-8B8E-0B3B-10C4-A0040EB2E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DA29F0CA-826F-3CCF-A32B-1D96DE4DD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8C04A9-9CBF-0414-E696-8609CB1EA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340" y="1772653"/>
            <a:ext cx="954829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US" sz="2000" i="1" dirty="0"/>
              <a:t>DermaLens successfully addresses the three core gaps in existing AI dermatology tools - bias, opacity, and inaccessibility - by proposing a fairness-aware, explainable, and mobile-deployable skin cancer detection system. Built on </a:t>
            </a:r>
            <a:r>
              <a:rPr lang="en-US" sz="2000" i="1" dirty="0" err="1"/>
              <a:t>FairDermNet</a:t>
            </a:r>
            <a:r>
              <a:rPr lang="en-US" sz="2000" i="1" dirty="0"/>
              <a:t> (MobileNetV3 + FAM + </a:t>
            </a:r>
            <a:r>
              <a:rPr lang="en-US" sz="2000" i="1" dirty="0" err="1"/>
              <a:t>GeM</a:t>
            </a:r>
            <a:r>
              <a:rPr lang="en-US" sz="2000" i="1" dirty="0"/>
              <a:t>), trained on ~37,000 multi-source images with composite fairness loss, and deployed as a </a:t>
            </a:r>
            <a:r>
              <a:rPr lang="en-US" sz="2000" i="1" dirty="0" err="1"/>
              <a:t>TFLite</a:t>
            </a:r>
            <a:r>
              <a:rPr lang="en-US" sz="2000" i="1" dirty="0"/>
              <a:t> Flutter application, DermaLens delivers equitable 9-class lesion classification with Grad-CAM + SHAP explainability - making reliable preliminary skin cancer screening accessible to anyone, on any smartphone, regardless of skin tone.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072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270F4-FA4F-6C5D-DDE5-A39CD274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03E6893E-D0A2-9074-BEA9-F7527F303146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8FEFB37E-AD87-D328-05DE-589ADC73E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81B1526-0BA9-F485-D227-A0AC463F7D36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D948A7-FEEE-BC23-45B5-4A385571D036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6216F1-398E-5505-5AC3-ECB0F7DA8A88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1EB62425-ECEE-C465-880D-BCF2CA555E52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7DC63991-EF82-28D8-91F1-075855166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E8BC2A46-5372-3FE6-F40B-0D9F57B09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BC9DEC-ECCF-B460-B7B0-C41E71A64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80" y="2346575"/>
            <a:ext cx="5650329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r>
              <a:rPr lang="en-US" altLang="en-US" sz="3200" b="1" dirty="0">
                <a:solidFill>
                  <a:srgbClr val="002060"/>
                </a:solidFill>
              </a:rPr>
              <a:t>Thank You</a:t>
            </a:r>
            <a:endParaRPr lang="en-US" altLang="en-US" sz="3200" dirty="0">
              <a:solidFill>
                <a:srgbClr val="002060"/>
              </a:solidFill>
            </a:endParaRPr>
          </a:p>
          <a:p>
            <a:pPr lvl="0" algn="just">
              <a:defRPr/>
            </a:pPr>
            <a:r>
              <a:rPr lang="en-US" altLang="en-US" dirty="0"/>
              <a:t>“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welcome your questions and feedback.”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994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3436</TotalTime>
  <Words>3063</Words>
  <Application>Microsoft Office PowerPoint</Application>
  <PresentationFormat>Widescreen</PresentationFormat>
  <Paragraphs>341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Times New Roman</vt:lpstr>
      <vt:lpstr>Office Theme</vt:lpstr>
      <vt:lpstr>Department of Information Science &amp; Engineering</vt:lpstr>
      <vt:lpstr>ABSTRACT</vt:lpstr>
      <vt:lpstr>INTRODUCTION</vt:lpstr>
      <vt:lpstr>PROBLEM STATEMENT</vt:lpstr>
      <vt:lpstr>Objectives</vt:lpstr>
      <vt:lpstr>PROPOSED SOLUTION</vt:lpstr>
      <vt:lpstr>Existing System for Authentication</vt:lpstr>
      <vt:lpstr>Proposed System </vt:lpstr>
      <vt:lpstr>Advantages</vt:lpstr>
      <vt:lpstr>Literature Review </vt:lpstr>
      <vt:lpstr>Literature Review </vt:lpstr>
      <vt:lpstr>Requirements Specification</vt:lpstr>
      <vt:lpstr>Requirements Specification</vt:lpstr>
      <vt:lpstr>Methodology</vt:lpstr>
      <vt:lpstr>System Design – Architecture Overview</vt:lpstr>
      <vt:lpstr>Phase 1 Recap</vt:lpstr>
      <vt:lpstr>Implementation Overview</vt:lpstr>
      <vt:lpstr>Web &amp; Mobile Interfaces</vt:lpstr>
      <vt:lpstr>Testing Strategy</vt:lpstr>
      <vt:lpstr>Results &amp; Observations</vt:lpstr>
      <vt:lpstr>Security &amp; Privacy Analysis</vt:lpstr>
      <vt:lpstr>Future Scope &amp; Enhancements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CCD</dc:creator>
  <cp:lastModifiedBy>Sanjana TG</cp:lastModifiedBy>
  <cp:revision>160</cp:revision>
  <dcterms:created xsi:type="dcterms:W3CDTF">2019-06-01T04:36:06Z</dcterms:created>
  <dcterms:modified xsi:type="dcterms:W3CDTF">2026-03-23T15:22:07Z</dcterms:modified>
</cp:coreProperties>
</file>